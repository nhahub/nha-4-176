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E92AC9F3-AD0F-D757-5D06-9F44635218E5}" v="20" dt="2026-07-10T15:03:42.387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Relationship Id="rId30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clId="Web-{E92AC9F3-AD0F-D757-5D06-9F44635218E5}"/>
    <pc:docChg chg="modSld">
      <pc:chgData name="" userId="" providerId="" clId="Web-{E92AC9F3-AD0F-D757-5D06-9F44635218E5}" dt="2026-07-10T15:03:42.387" v="17" actId="20577"/>
      <pc:docMkLst>
        <pc:docMk/>
      </pc:docMkLst>
      <pc:sldChg chg="modSp">
        <pc:chgData name="" userId="" providerId="" clId="Web-{E92AC9F3-AD0F-D757-5D06-9F44635218E5}" dt="2026-07-10T15:03:42.387" v="17" actId="20577"/>
        <pc:sldMkLst>
          <pc:docMk/>
          <pc:sldMk cId="0" sldId="256"/>
        </pc:sldMkLst>
        <pc:spChg chg="mod">
          <ac:chgData name="" userId="" providerId="" clId="Web-{E92AC9F3-AD0F-D757-5D06-9F44635218E5}" dt="2026-07-10T15:03:42.387" v="17" actId="20577"/>
          <ac:spMkLst>
            <pc:docMk/>
            <pc:sldMk cId="0" sldId="256"/>
            <ac:spMk id="8" creationId="{00000000-0000-0000-0000-000000000000}"/>
          </ac:spMkLst>
        </pc:spChg>
      </pc:sldChg>
      <pc:sldChg chg="modSp">
        <pc:chgData name="" userId="" providerId="" clId="Web-{E92AC9F3-AD0F-D757-5D06-9F44635218E5}" dt="2026-07-10T15:03:24.152" v="9" actId="1076"/>
        <pc:sldMkLst>
          <pc:docMk/>
          <pc:sldMk cId="0" sldId="277"/>
        </pc:sldMkLst>
        <pc:spChg chg="mod">
          <ac:chgData name="" userId="" providerId="" clId="Web-{E92AC9F3-AD0F-D757-5D06-9F44635218E5}" dt="2026-07-10T15:03:24.152" v="9" actId="1076"/>
          <ac:spMkLst>
            <pc:docMk/>
            <pc:sldMk cId="0" sldId="277"/>
            <ac:spMk id="2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6111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6111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FBCA8C1-9ADB-4197-A0DC-F1599321269A}" type="datetimeFigureOut">
              <a:t>7/10/2026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-228600" y="1524000"/>
            <a:ext cx="7315200" cy="41148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5867400"/>
            <a:ext cx="5486400" cy="48006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11580813"/>
            <a:ext cx="2971800" cy="6111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11580813"/>
            <a:ext cx="2971800" cy="6111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C8DA127-D461-4100-A75F-EA1FAF30784D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005504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B1E1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686800" y="-1828800"/>
            <a:ext cx="7315200" cy="7315200"/>
          </a:xfrm>
          <a:prstGeom prst="ellipse">
            <a:avLst/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875520" y="4114800"/>
            <a:ext cx="3657600" cy="3657600"/>
          </a:xfrm>
          <a:prstGeom prst="ellipse">
            <a:avLst/>
          </a:prstGeom>
          <a:solidFill>
            <a:srgbClr val="E9A94A"/>
          </a:solidFill>
          <a:ln w="12700">
            <a:solidFill>
              <a:srgbClr val="E9A94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201168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600" b="1" kern="0" spc="6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FOODADS  AI</a:t>
            </a:r>
            <a:endParaRPr lang="en-US" sz="6600" dirty="0"/>
          </a:p>
        </p:txBody>
      </p:sp>
      <p:sp>
        <p:nvSpPr>
          <p:cNvPr id="5" name="Shape 3"/>
          <p:cNvSpPr/>
          <p:nvPr/>
        </p:nvSpPr>
        <p:spPr>
          <a:xfrm>
            <a:off x="731520" y="3200400"/>
            <a:ext cx="1371600" cy="73152"/>
          </a:xfrm>
          <a:prstGeom prst="rect">
            <a:avLst/>
          </a:prstGeom>
          <a:solidFill>
            <a:srgbClr val="E9A94A"/>
          </a:solidFill>
          <a:ln w="12700">
            <a:solidFill>
              <a:srgbClr val="E9A94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338328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i="1" dirty="0">
                <a:solidFill>
                  <a:srgbClr val="F5EF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AI-Powered Restaurant Marketing Studio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640080" y="41148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C9BF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a single prompt to a full multi-channel campaign — in under 30 seconds.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40080" y="6035040"/>
            <a:ext cx="5486400" cy="36576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r>
              <a:rPr lang="en-US" sz="1200" b="1" kern="0" spc="300">
                <a:solidFill>
                  <a:srgbClr val="E9A94A"/>
                </a:solidFill>
                <a:latin typeface="Calibri"/>
                <a:ea typeface="Calibri"/>
                <a:cs typeface="Calibri"/>
              </a:rPr>
              <a:t>DEPI Graduation</a:t>
            </a:r>
            <a:r>
              <a:rPr lang="en-US" sz="1200" b="1" kern="0" spc="300" dirty="0">
                <a:solidFill>
                  <a:srgbClr val="E9A94A"/>
                </a:solidFill>
                <a:latin typeface="Calibri"/>
                <a:ea typeface="Calibri"/>
                <a:cs typeface="Calibri"/>
              </a:rPr>
              <a:t> Project  ·  2026</a:t>
            </a:r>
            <a:endParaRPr lang="en-US" sz="1200" dirty="0">
              <a:latin typeface="Calibri"/>
              <a:ea typeface="Calibri"/>
              <a:cs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EFE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400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 ·  INTRODUCTION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2B1E1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is FoodAds AI?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1097280" cy="73152"/>
          </a:xfrm>
          <a:prstGeom prst="rect">
            <a:avLst/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920240"/>
            <a:ext cx="658368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spcAft>
                <a:spcPts val="600"/>
              </a:spcAft>
              <a:buNone/>
            </a:pPr>
            <a:r>
              <a:rPr lang="en-US" sz="1800" dirty="0">
                <a:solidFill>
                  <a:srgbClr val="1A13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end-to-end AI marketing studio for restaurants. One prompt produces a photorealistic food image and a complete campaign across every channel a restaurant needs.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548640" y="4023360"/>
            <a:ext cx="2011680" cy="502920"/>
          </a:xfrm>
          <a:prstGeom prst="roundRect">
            <a:avLst>
              <a:gd name="adj" fmla="val 18182"/>
            </a:avLst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4023360"/>
            <a:ext cx="2011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Photorealistic Image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2743200" y="4023360"/>
            <a:ext cx="2011680" cy="502920"/>
          </a:xfrm>
          <a:prstGeom prst="roundRect">
            <a:avLst>
              <a:gd name="adj" fmla="val 18182"/>
            </a:avLst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743200" y="4023360"/>
            <a:ext cx="2011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Instagram Post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48640" y="4663440"/>
            <a:ext cx="2011680" cy="502920"/>
          </a:xfrm>
          <a:prstGeom prst="roundRect">
            <a:avLst>
              <a:gd name="adj" fmla="val 18182"/>
            </a:avLst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48640" y="4663440"/>
            <a:ext cx="2011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Ads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4663440"/>
            <a:ext cx="2011680" cy="502920"/>
          </a:xfrm>
          <a:prstGeom prst="roundRect">
            <a:avLst>
              <a:gd name="adj" fmla="val 18182"/>
            </a:avLst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743200" y="4663440"/>
            <a:ext cx="2011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48640" y="5303520"/>
            <a:ext cx="2011680" cy="502920"/>
          </a:xfrm>
          <a:prstGeom prst="roundRect">
            <a:avLst>
              <a:gd name="adj" fmla="val 18182"/>
            </a:avLst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48640" y="5303520"/>
            <a:ext cx="2011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SMS + Push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2743200" y="5303520"/>
            <a:ext cx="2011680" cy="502920"/>
          </a:xfrm>
          <a:prstGeom prst="roundRect">
            <a:avLst>
              <a:gd name="adj" fmla="val 18182"/>
            </a:avLst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743200" y="5303520"/>
            <a:ext cx="2011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3-Day Calendar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7863840" y="1920240"/>
            <a:ext cx="3840480" cy="4023360"/>
          </a:xfrm>
          <a:prstGeom prst="roundRect">
            <a:avLst>
              <a:gd name="adj" fmla="val 3571"/>
            </a:avLst>
          </a:prstGeom>
          <a:solidFill>
            <a:srgbClr val="2B1E1B"/>
          </a:solidFill>
          <a:ln w="12700">
            <a:solidFill>
              <a:srgbClr val="2B1E1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863840" y="2194560"/>
            <a:ext cx="384048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800" b="1" dirty="0">
                <a:solidFill>
                  <a:srgbClr val="E9A9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&lt;30s</a:t>
            </a:r>
            <a:endParaRPr lang="en-US" sz="8800" dirty="0"/>
          </a:p>
        </p:txBody>
      </p:sp>
      <p:sp>
        <p:nvSpPr>
          <p:cNvPr id="20" name="Text 18"/>
          <p:cNvSpPr/>
          <p:nvPr/>
        </p:nvSpPr>
        <p:spPr>
          <a:xfrm>
            <a:off x="7863840" y="3840480"/>
            <a:ext cx="38404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F5EF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a publish-ready</a:t>
            </a:r>
            <a:endParaRPr lang="en-US" sz="1600" dirty="0"/>
          </a:p>
          <a:p>
            <a:pPr marL="0" indent="0" algn="ctr">
              <a:buNone/>
            </a:pPr>
            <a:r>
              <a:rPr lang="en-US" sz="1600" dirty="0">
                <a:solidFill>
                  <a:srgbClr val="F5EF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multi-channel campaign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9509760" y="5120640"/>
            <a:ext cx="548640" cy="54864"/>
          </a:xfrm>
          <a:prstGeom prst="rect">
            <a:avLst/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863840" y="5257800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E7E8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Instant Go-To-Market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65760" y="658368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FoodAds AI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11338560" y="658368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/ 22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EFE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400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 ·  THE PROBLEM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2B1E1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Restaurant marketing is broken for the small player.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1097280" cy="73152"/>
          </a:xfrm>
          <a:prstGeom prst="rect">
            <a:avLst/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2103120"/>
            <a:ext cx="3566160" cy="4023360"/>
          </a:xfrm>
          <a:prstGeom prst="roundRect">
            <a:avLst>
              <a:gd name="adj" fmla="val 3077"/>
            </a:avLst>
          </a:prstGeom>
          <a:solidFill>
            <a:srgbClr val="FFFFFF"/>
          </a:solidFill>
          <a:ln w="12700">
            <a:solidFill>
              <a:srgbClr val="E5D9CE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2103120"/>
            <a:ext cx="3566160" cy="109728"/>
          </a:xfrm>
          <a:prstGeom prst="rect">
            <a:avLst/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22960" y="2331720"/>
            <a:ext cx="3017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2B1E1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High Overhead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822960" y="2880360"/>
            <a:ext cx="32004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B8504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$1K–$5K / month</a:t>
            </a:r>
            <a:endParaRPr lang="en-US" sz="3800" dirty="0"/>
          </a:p>
        </p:txBody>
      </p:sp>
      <p:sp>
        <p:nvSpPr>
          <p:cNvPr id="9" name="Text 7"/>
          <p:cNvSpPr/>
          <p:nvPr/>
        </p:nvSpPr>
        <p:spPr>
          <a:xfrm>
            <a:off x="822960" y="4297680"/>
            <a:ext cx="301752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E5B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Agencies and freelancers are out of reach for local restaurants.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343400" y="2103120"/>
            <a:ext cx="3566160" cy="4023360"/>
          </a:xfrm>
          <a:prstGeom prst="roundRect">
            <a:avLst>
              <a:gd name="adj" fmla="val 3077"/>
            </a:avLst>
          </a:prstGeom>
          <a:solidFill>
            <a:srgbClr val="FFFFFF"/>
          </a:solidFill>
          <a:ln w="12700">
            <a:solidFill>
              <a:srgbClr val="E5D9CE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343400" y="2103120"/>
            <a:ext cx="3566160" cy="109728"/>
          </a:xfrm>
          <a:prstGeom prst="rect">
            <a:avLst/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617720" y="2331720"/>
            <a:ext cx="3017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2B1E1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Time Poverty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4617720" y="2880360"/>
            <a:ext cx="32004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B8504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60+ hrs / week</a:t>
            </a:r>
            <a:endParaRPr lang="en-US" sz="3800" dirty="0"/>
          </a:p>
        </p:txBody>
      </p:sp>
      <p:sp>
        <p:nvSpPr>
          <p:cNvPr id="14" name="Text 12"/>
          <p:cNvSpPr/>
          <p:nvPr/>
        </p:nvSpPr>
        <p:spPr>
          <a:xfrm>
            <a:off x="4617720" y="4297680"/>
            <a:ext cx="301752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E5B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Owners run kitchens, staff and suppliers — no time for content.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8138160" y="2103120"/>
            <a:ext cx="3566160" cy="4023360"/>
          </a:xfrm>
          <a:prstGeom prst="roundRect">
            <a:avLst>
              <a:gd name="adj" fmla="val 3077"/>
            </a:avLst>
          </a:prstGeom>
          <a:solidFill>
            <a:srgbClr val="FFFFFF"/>
          </a:solidFill>
          <a:ln w="12700">
            <a:solidFill>
              <a:srgbClr val="E5D9CE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138160" y="2103120"/>
            <a:ext cx="3566160" cy="109728"/>
          </a:xfrm>
          <a:prstGeom prst="rect">
            <a:avLst/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412480" y="2331720"/>
            <a:ext cx="3017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2B1E1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Weak Visuals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8412480" y="2880360"/>
            <a:ext cx="32004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B8504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Generic photos</a:t>
            </a:r>
            <a:endParaRPr lang="en-US" sz="3800" dirty="0"/>
          </a:p>
        </p:txBody>
      </p:sp>
      <p:sp>
        <p:nvSpPr>
          <p:cNvPr id="19" name="Text 17"/>
          <p:cNvSpPr/>
          <p:nvPr/>
        </p:nvSpPr>
        <p:spPr>
          <a:xfrm>
            <a:off x="8412480" y="4297680"/>
            <a:ext cx="301752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E5B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Stock or phone shots kill appetite appeal and conversion.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65760" y="658368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FoodAds AI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11338560" y="658368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22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EFE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400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 ·  THE SOLUTION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2B1E1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One prompt. A whole campaign.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1097280" cy="73152"/>
          </a:xfrm>
          <a:prstGeom prst="rect">
            <a:avLst/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2103120"/>
            <a:ext cx="2651760" cy="3931920"/>
          </a:xfrm>
          <a:prstGeom prst="roundRect">
            <a:avLst>
              <a:gd name="adj" fmla="val 4138"/>
            </a:avLst>
          </a:prstGeom>
          <a:solidFill>
            <a:srgbClr val="2B1E1B"/>
          </a:solidFill>
          <a:ln w="12700">
            <a:solidFill>
              <a:srgbClr val="2B1E1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77240" y="2240280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E9A9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777240" y="2743200"/>
            <a:ext cx="21945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Prompt</a:t>
            </a:r>
            <a:endParaRPr lang="en-US" sz="2600" dirty="0"/>
          </a:p>
        </p:txBody>
      </p:sp>
      <p:sp>
        <p:nvSpPr>
          <p:cNvPr id="8" name="Shape 6"/>
          <p:cNvSpPr/>
          <p:nvPr/>
        </p:nvSpPr>
        <p:spPr>
          <a:xfrm>
            <a:off x="777240" y="3474720"/>
            <a:ext cx="548640" cy="54864"/>
          </a:xfrm>
          <a:prstGeom prst="rect">
            <a:avLst/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77240" y="3703320"/>
            <a:ext cx="219456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E7E8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types a raw idea. LLM enhances it into a pro brief.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383280" y="2103120"/>
            <a:ext cx="2651760" cy="3931920"/>
          </a:xfrm>
          <a:prstGeom prst="roundRect">
            <a:avLst>
              <a:gd name="adj" fmla="val 4138"/>
            </a:avLst>
          </a:prstGeom>
          <a:solidFill>
            <a:srgbClr val="2B1E1B"/>
          </a:solidFill>
          <a:ln w="12700">
            <a:solidFill>
              <a:srgbClr val="2B1E1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611880" y="2240280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E9A9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3611880" y="2743200"/>
            <a:ext cx="21945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Image</a:t>
            </a:r>
            <a:endParaRPr lang="en-US" sz="2600" dirty="0"/>
          </a:p>
        </p:txBody>
      </p:sp>
      <p:sp>
        <p:nvSpPr>
          <p:cNvPr id="13" name="Shape 11"/>
          <p:cNvSpPr/>
          <p:nvPr/>
        </p:nvSpPr>
        <p:spPr>
          <a:xfrm>
            <a:off x="3611880" y="3474720"/>
            <a:ext cx="548640" cy="54864"/>
          </a:xfrm>
          <a:prstGeom prst="rect">
            <a:avLst/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611880" y="3703320"/>
            <a:ext cx="219456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E7E8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Stable Diffusion + food-tuned LoRA renders a photorealistic shot.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6217920" y="2103120"/>
            <a:ext cx="2651760" cy="3931920"/>
          </a:xfrm>
          <a:prstGeom prst="roundRect">
            <a:avLst>
              <a:gd name="adj" fmla="val 4138"/>
            </a:avLst>
          </a:prstGeom>
          <a:solidFill>
            <a:srgbClr val="2B1E1B"/>
          </a:solidFill>
          <a:ln w="12700">
            <a:solidFill>
              <a:srgbClr val="2B1E1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446520" y="2240280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E9A9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446520" y="2743200"/>
            <a:ext cx="21945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Copy</a:t>
            </a:r>
            <a:endParaRPr lang="en-US" sz="2600" dirty="0"/>
          </a:p>
        </p:txBody>
      </p:sp>
      <p:sp>
        <p:nvSpPr>
          <p:cNvPr id="18" name="Shape 16"/>
          <p:cNvSpPr/>
          <p:nvPr/>
        </p:nvSpPr>
        <p:spPr>
          <a:xfrm>
            <a:off x="6446520" y="3474720"/>
            <a:ext cx="548640" cy="54864"/>
          </a:xfrm>
          <a:prstGeom prst="rect">
            <a:avLst/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446520" y="3703320"/>
            <a:ext cx="219456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E7E8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LLaMA 3.1 writes copy for every channel in a single call.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9052560" y="2103120"/>
            <a:ext cx="2651760" cy="3931920"/>
          </a:xfrm>
          <a:prstGeom prst="roundRect">
            <a:avLst>
              <a:gd name="adj" fmla="val 4138"/>
            </a:avLst>
          </a:prstGeom>
          <a:solidFill>
            <a:srgbClr val="2B1E1B"/>
          </a:solidFill>
          <a:ln w="12700">
            <a:solidFill>
              <a:srgbClr val="2B1E1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281160" y="2240280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E9A9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9281160" y="2743200"/>
            <a:ext cx="21945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Publish</a:t>
            </a:r>
            <a:endParaRPr lang="en-US" sz="2600" dirty="0"/>
          </a:p>
        </p:txBody>
      </p:sp>
      <p:sp>
        <p:nvSpPr>
          <p:cNvPr id="23" name="Shape 21"/>
          <p:cNvSpPr/>
          <p:nvPr/>
        </p:nvSpPr>
        <p:spPr>
          <a:xfrm>
            <a:off x="9281160" y="3474720"/>
            <a:ext cx="548640" cy="54864"/>
          </a:xfrm>
          <a:prstGeom prst="rect">
            <a:avLst/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9281160" y="3703320"/>
            <a:ext cx="219456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E7E8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5-tab channel preview, HTML report, history + favorites.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65760" y="658368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FoodAds AI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11338560" y="658368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22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EFE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400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 ·  WHY THIS MATTERS NOW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2B1E1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Diners decide online — before they ever walk in.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1097280" cy="73152"/>
          </a:xfrm>
          <a:prstGeom prst="rect">
            <a:avLst/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2103120"/>
            <a:ext cx="539496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 w="12700">
            <a:solidFill>
              <a:srgbClr val="E5D9C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77240" y="2240280"/>
            <a:ext cx="210312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000" b="1" dirty="0">
                <a:solidFill>
                  <a:srgbClr val="B8504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90%</a:t>
            </a:r>
            <a:endParaRPr lang="en-US" sz="6000" dirty="0"/>
          </a:p>
        </p:txBody>
      </p:sp>
      <p:sp>
        <p:nvSpPr>
          <p:cNvPr id="7" name="Text 5"/>
          <p:cNvSpPr/>
          <p:nvPr/>
        </p:nvSpPr>
        <p:spPr>
          <a:xfrm>
            <a:off x="2926080" y="2286000"/>
            <a:ext cx="292608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A13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diners research a restaurant online before visiting.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2926080" y="3520440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6E5B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Industry reports, 2025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6217920" y="2103120"/>
            <a:ext cx="539496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 w="12700">
            <a:solidFill>
              <a:srgbClr val="E5D9C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46520" y="2240280"/>
            <a:ext cx="210312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000" b="1" dirty="0">
                <a:solidFill>
                  <a:srgbClr val="B8504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57%</a:t>
            </a:r>
            <a:endParaRPr lang="en-US" sz="6000" dirty="0"/>
          </a:p>
        </p:txBody>
      </p:sp>
      <p:sp>
        <p:nvSpPr>
          <p:cNvPr id="11" name="Text 9"/>
          <p:cNvSpPr/>
          <p:nvPr/>
        </p:nvSpPr>
        <p:spPr>
          <a:xfrm>
            <a:off x="8595360" y="2286000"/>
            <a:ext cx="292608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A13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millennials rely on social media to choose where to dine.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8595360" y="3520440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6E5B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TouchBistro, 2025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548640" y="4251960"/>
            <a:ext cx="539496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 w="12700">
            <a:solidFill>
              <a:srgbClr val="E5D9C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77240" y="4389120"/>
            <a:ext cx="210312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000" b="1" dirty="0">
                <a:solidFill>
                  <a:srgbClr val="B8504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+44%</a:t>
            </a:r>
            <a:endParaRPr lang="en-US" sz="6000" dirty="0"/>
          </a:p>
        </p:txBody>
      </p:sp>
      <p:sp>
        <p:nvSpPr>
          <p:cNvPr id="15" name="Text 13"/>
          <p:cNvSpPr/>
          <p:nvPr/>
        </p:nvSpPr>
        <p:spPr>
          <a:xfrm>
            <a:off x="2926080" y="4434840"/>
            <a:ext cx="292608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A13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higher monthly sales for menus with high-quality photos.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2926080" y="5669280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6E5B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DoorDash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6217920" y="4251960"/>
            <a:ext cx="539496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 w="12700">
            <a:solidFill>
              <a:srgbClr val="E5D9C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446520" y="4389120"/>
            <a:ext cx="210312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000" b="1" dirty="0">
                <a:solidFill>
                  <a:srgbClr val="B8504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+70%</a:t>
            </a:r>
            <a:endParaRPr lang="en-US" sz="6000" dirty="0"/>
          </a:p>
        </p:txBody>
      </p:sp>
      <p:sp>
        <p:nvSpPr>
          <p:cNvPr id="19" name="Text 17"/>
          <p:cNvSpPr/>
          <p:nvPr/>
        </p:nvSpPr>
        <p:spPr>
          <a:xfrm>
            <a:off x="8595360" y="4434840"/>
            <a:ext cx="292608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A13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orders when photos are paired with rich descriptions.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8595360" y="5669280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6E5B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Grubhub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65760" y="658368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FoodAds AI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11338560" y="658368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22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EFE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400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 ·  TARGET AUDIENCE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2B1E1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Who we build for.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1097280" cy="73152"/>
          </a:xfrm>
          <a:prstGeom prst="rect">
            <a:avLst/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2103120"/>
            <a:ext cx="11064240" cy="1234440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 w="12700">
            <a:solidFill>
              <a:srgbClr val="E5D9CE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77240" y="2377440"/>
            <a:ext cx="685800" cy="685800"/>
          </a:xfrm>
          <a:prstGeom prst="ellipse">
            <a:avLst/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" y="2377440"/>
            <a:ext cx="685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1645920" y="2286000"/>
            <a:ext cx="9601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2B1E1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Local Restaurants &amp; Cafés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1645920" y="2743200"/>
            <a:ext cx="9601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E5B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Family diners, pizzerias, bistros, coffee shops running their own social presence.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548640" y="3520440"/>
            <a:ext cx="11064240" cy="1234440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 w="12700">
            <a:solidFill>
              <a:srgbClr val="E5D9CE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77240" y="3794760"/>
            <a:ext cx="685800" cy="685800"/>
          </a:xfrm>
          <a:prstGeom prst="ellipse">
            <a:avLst/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77240" y="3794760"/>
            <a:ext cx="685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1645920" y="3703320"/>
            <a:ext cx="9601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2B1E1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Cloud &amp; Home Kitchens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1645920" y="4160520"/>
            <a:ext cx="9601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E5B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Delivery-only brands that need fresh daily visuals for specials and offers.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548640" y="4937760"/>
            <a:ext cx="11064240" cy="1234440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 w="12700">
            <a:solidFill>
              <a:srgbClr val="E5D9CE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77240" y="5212080"/>
            <a:ext cx="685800" cy="685800"/>
          </a:xfrm>
          <a:prstGeom prst="ellipse">
            <a:avLst/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77240" y="5212080"/>
            <a:ext cx="685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1645920" y="5120640"/>
            <a:ext cx="9601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2B1E1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Freelance SMMs &amp; Agencies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1645920" y="5577840"/>
            <a:ext cx="9601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E5B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Managers scaling from hours to seconds per client — $300–$800/mo retainers, $3K–$5K MRR.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65760" y="658368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FoodAds AI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11338560" y="658368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22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EFE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400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 ·  COMPETITOR ANALYSIS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2B1E1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landscape today.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1097280" cy="73152"/>
          </a:xfrm>
          <a:prstGeom prst="rect">
            <a:avLst/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965960"/>
            <a:ext cx="3840480" cy="548640"/>
          </a:xfrm>
          <a:prstGeom prst="rect">
            <a:avLst/>
          </a:prstGeom>
          <a:solidFill>
            <a:srgbClr val="2B1E1B"/>
          </a:solidFill>
          <a:ln w="12700">
            <a:solidFill>
              <a:srgbClr val="E5D9C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85800" y="1965960"/>
            <a:ext cx="3566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Competitor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389120" y="1965960"/>
            <a:ext cx="4572000" cy="548640"/>
          </a:xfrm>
          <a:prstGeom prst="rect">
            <a:avLst/>
          </a:prstGeom>
          <a:solidFill>
            <a:srgbClr val="2B1E1B"/>
          </a:solidFill>
          <a:ln w="12700">
            <a:solidFill>
              <a:srgbClr val="E5D9C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26280" y="1965960"/>
            <a:ext cx="4297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Category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8961120" y="1965960"/>
            <a:ext cx="2651760" cy="548640"/>
          </a:xfrm>
          <a:prstGeom prst="rect">
            <a:avLst/>
          </a:prstGeom>
          <a:solidFill>
            <a:srgbClr val="2B1E1B"/>
          </a:solidFill>
          <a:ln w="12700">
            <a:solidFill>
              <a:srgbClr val="E5D9C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098280" y="1965960"/>
            <a:ext cx="2377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Starting Price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548640" y="2514600"/>
            <a:ext cx="384048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5D9C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85800" y="2514600"/>
            <a:ext cx="3566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13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Canva Magic Studio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389120" y="2514600"/>
            <a:ext cx="457200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5D9C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526280" y="2514600"/>
            <a:ext cx="4297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13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Generic design + AI text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8961120" y="2514600"/>
            <a:ext cx="265176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5D9C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098280" y="2514600"/>
            <a:ext cx="2377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13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$15 / month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548640" y="3063240"/>
            <a:ext cx="3840480" cy="548640"/>
          </a:xfrm>
          <a:prstGeom prst="rect">
            <a:avLst/>
          </a:prstGeom>
          <a:solidFill>
            <a:srgbClr val="F5EFE6"/>
          </a:solidFill>
          <a:ln w="12700">
            <a:solidFill>
              <a:srgbClr val="E5D9C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85800" y="3063240"/>
            <a:ext cx="3566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13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Jasper AI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4389120" y="3063240"/>
            <a:ext cx="4572000" cy="548640"/>
          </a:xfrm>
          <a:prstGeom prst="rect">
            <a:avLst/>
          </a:prstGeom>
          <a:solidFill>
            <a:srgbClr val="F5EFE6"/>
          </a:solidFill>
          <a:ln w="12700">
            <a:solidFill>
              <a:srgbClr val="E5D9CE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526280" y="3063240"/>
            <a:ext cx="4297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13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copywriting suite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8961120" y="3063240"/>
            <a:ext cx="2651760" cy="548640"/>
          </a:xfrm>
          <a:prstGeom prst="rect">
            <a:avLst/>
          </a:prstGeom>
          <a:solidFill>
            <a:srgbClr val="F5EFE6"/>
          </a:solidFill>
          <a:ln w="12700">
            <a:solidFill>
              <a:srgbClr val="E5D9C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098280" y="3063240"/>
            <a:ext cx="2377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13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$49 / month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548640" y="3611880"/>
            <a:ext cx="384048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5D9CE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85800" y="3611880"/>
            <a:ext cx="3566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13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Copy.ai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4389120" y="3611880"/>
            <a:ext cx="457200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5D9CE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526280" y="3611880"/>
            <a:ext cx="4297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13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Marketing copy generation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8961120" y="3611880"/>
            <a:ext cx="265176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5D9CE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9098280" y="3611880"/>
            <a:ext cx="2377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13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$49 / month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548640" y="4160520"/>
            <a:ext cx="3840480" cy="548640"/>
          </a:xfrm>
          <a:prstGeom prst="rect">
            <a:avLst/>
          </a:prstGeom>
          <a:solidFill>
            <a:srgbClr val="F5EFE6"/>
          </a:solidFill>
          <a:ln w="12700">
            <a:solidFill>
              <a:srgbClr val="E5D9CE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85800" y="4160520"/>
            <a:ext cx="3566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13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Midjourney</a:t>
            </a:r>
            <a:endParaRPr lang="en-US" sz="1300" dirty="0"/>
          </a:p>
        </p:txBody>
      </p:sp>
      <p:sp>
        <p:nvSpPr>
          <p:cNvPr id="31" name="Shape 29"/>
          <p:cNvSpPr/>
          <p:nvPr/>
        </p:nvSpPr>
        <p:spPr>
          <a:xfrm>
            <a:off x="4389120" y="4160520"/>
            <a:ext cx="4572000" cy="548640"/>
          </a:xfrm>
          <a:prstGeom prst="rect">
            <a:avLst/>
          </a:prstGeom>
          <a:solidFill>
            <a:srgbClr val="F5EFE6"/>
          </a:solidFill>
          <a:ln w="12700">
            <a:solidFill>
              <a:srgbClr val="E5D9CE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526280" y="4160520"/>
            <a:ext cx="4297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13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General AI image model</a:t>
            </a:r>
            <a:endParaRPr lang="en-US" sz="1300" dirty="0"/>
          </a:p>
        </p:txBody>
      </p:sp>
      <p:sp>
        <p:nvSpPr>
          <p:cNvPr id="33" name="Shape 31"/>
          <p:cNvSpPr/>
          <p:nvPr/>
        </p:nvSpPr>
        <p:spPr>
          <a:xfrm>
            <a:off x="8961120" y="4160520"/>
            <a:ext cx="2651760" cy="548640"/>
          </a:xfrm>
          <a:prstGeom prst="rect">
            <a:avLst/>
          </a:prstGeom>
          <a:solidFill>
            <a:srgbClr val="F5EFE6"/>
          </a:solidFill>
          <a:ln w="12700">
            <a:solidFill>
              <a:srgbClr val="E5D9CE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9098280" y="4160520"/>
            <a:ext cx="2377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13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$10 / month</a:t>
            </a:r>
            <a:endParaRPr lang="en-US" sz="1300" dirty="0"/>
          </a:p>
        </p:txBody>
      </p:sp>
      <p:sp>
        <p:nvSpPr>
          <p:cNvPr id="35" name="Shape 33"/>
          <p:cNvSpPr/>
          <p:nvPr/>
        </p:nvSpPr>
        <p:spPr>
          <a:xfrm>
            <a:off x="548640" y="4709160"/>
            <a:ext cx="384048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5D9CE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85800" y="4709160"/>
            <a:ext cx="3566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13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Adobe Firefly</a:t>
            </a:r>
            <a:endParaRPr lang="en-US" sz="1300" dirty="0"/>
          </a:p>
        </p:txBody>
      </p:sp>
      <p:sp>
        <p:nvSpPr>
          <p:cNvPr id="37" name="Shape 35"/>
          <p:cNvSpPr/>
          <p:nvPr/>
        </p:nvSpPr>
        <p:spPr>
          <a:xfrm>
            <a:off x="4389120" y="4709160"/>
            <a:ext cx="457200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5D9CE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526280" y="4709160"/>
            <a:ext cx="4297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13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Creative-cloud AI images</a:t>
            </a:r>
            <a:endParaRPr lang="en-US" sz="1300" dirty="0"/>
          </a:p>
        </p:txBody>
      </p:sp>
      <p:sp>
        <p:nvSpPr>
          <p:cNvPr id="39" name="Shape 37"/>
          <p:cNvSpPr/>
          <p:nvPr/>
        </p:nvSpPr>
        <p:spPr>
          <a:xfrm>
            <a:off x="8961120" y="4709160"/>
            <a:ext cx="265176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5D9CE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9098280" y="4709160"/>
            <a:ext cx="2377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13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$5–$23 / month</a:t>
            </a:r>
            <a:endParaRPr lang="en-US" sz="1300" dirty="0"/>
          </a:p>
        </p:txBody>
      </p:sp>
      <p:sp>
        <p:nvSpPr>
          <p:cNvPr id="41" name="Shape 39"/>
          <p:cNvSpPr/>
          <p:nvPr/>
        </p:nvSpPr>
        <p:spPr>
          <a:xfrm>
            <a:off x="548640" y="5257800"/>
            <a:ext cx="3840480" cy="548640"/>
          </a:xfrm>
          <a:prstGeom prst="rect">
            <a:avLst/>
          </a:prstGeom>
          <a:solidFill>
            <a:srgbClr val="F5EFE6"/>
          </a:solidFill>
          <a:ln w="12700">
            <a:solidFill>
              <a:srgbClr val="E5D9CE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685800" y="5257800"/>
            <a:ext cx="3566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13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Hootsuite / Later</a:t>
            </a:r>
            <a:endParaRPr lang="en-US" sz="1300" dirty="0"/>
          </a:p>
        </p:txBody>
      </p:sp>
      <p:sp>
        <p:nvSpPr>
          <p:cNvPr id="43" name="Shape 41"/>
          <p:cNvSpPr/>
          <p:nvPr/>
        </p:nvSpPr>
        <p:spPr>
          <a:xfrm>
            <a:off x="4389120" y="5257800"/>
            <a:ext cx="4572000" cy="548640"/>
          </a:xfrm>
          <a:prstGeom prst="rect">
            <a:avLst/>
          </a:prstGeom>
          <a:solidFill>
            <a:srgbClr val="F5EFE6"/>
          </a:solidFill>
          <a:ln w="12700">
            <a:solidFill>
              <a:srgbClr val="E5D9CE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4526280" y="5257800"/>
            <a:ext cx="4297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13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Social scheduling</a:t>
            </a:r>
            <a:endParaRPr lang="en-US" sz="1300" dirty="0"/>
          </a:p>
        </p:txBody>
      </p:sp>
      <p:sp>
        <p:nvSpPr>
          <p:cNvPr id="45" name="Shape 43"/>
          <p:cNvSpPr/>
          <p:nvPr/>
        </p:nvSpPr>
        <p:spPr>
          <a:xfrm>
            <a:off x="8961120" y="5257800"/>
            <a:ext cx="2651760" cy="548640"/>
          </a:xfrm>
          <a:prstGeom prst="rect">
            <a:avLst/>
          </a:prstGeom>
          <a:solidFill>
            <a:srgbClr val="F5EFE6"/>
          </a:solidFill>
          <a:ln w="12700">
            <a:solidFill>
              <a:srgbClr val="E5D9CE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9098280" y="5257800"/>
            <a:ext cx="2377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13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$99+ / month</a:t>
            </a:r>
            <a:endParaRPr lang="en-US" sz="1300" dirty="0"/>
          </a:p>
        </p:txBody>
      </p:sp>
      <p:sp>
        <p:nvSpPr>
          <p:cNvPr id="47" name="Text 45"/>
          <p:cNvSpPr/>
          <p:nvPr/>
        </p:nvSpPr>
        <p:spPr>
          <a:xfrm>
            <a:off x="548640" y="58521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6E5B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Prices verified from public pricing pages, 2025.</a:t>
            </a:r>
            <a:endParaRPr lang="en-US" sz="1000" dirty="0"/>
          </a:p>
        </p:txBody>
      </p:sp>
      <p:sp>
        <p:nvSpPr>
          <p:cNvPr id="48" name="Shape 46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365760" y="658368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FoodAds AI</a:t>
            </a:r>
            <a:endParaRPr lang="en-US" sz="1100" dirty="0"/>
          </a:p>
        </p:txBody>
      </p:sp>
      <p:sp>
        <p:nvSpPr>
          <p:cNvPr id="50" name="Text 48"/>
          <p:cNvSpPr/>
          <p:nvPr/>
        </p:nvSpPr>
        <p:spPr>
          <a:xfrm>
            <a:off x="11338560" y="658368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22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EFE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400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 ·  COMPETITOR LIMITATIONS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2B1E1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Where every existing tool falls short.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1097280" cy="73152"/>
          </a:xfrm>
          <a:prstGeom prst="rect">
            <a:avLst/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2011680"/>
            <a:ext cx="73152" cy="685800"/>
          </a:xfrm>
          <a:prstGeom prst="rect">
            <a:avLst/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77240" y="2011680"/>
            <a:ext cx="32918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B1E1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Canva / Firefly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4206240" y="2011680"/>
            <a:ext cx="74980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E5B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Generic AI images — food looks plastic, distorted, not appetizing.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48640" y="2834640"/>
            <a:ext cx="73152" cy="685800"/>
          </a:xfrm>
          <a:prstGeom prst="rect">
            <a:avLst/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77240" y="2834640"/>
            <a:ext cx="32918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B1E1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Jasper / Copy.ai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4206240" y="2834640"/>
            <a:ext cx="74980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E5B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 only. No image generation, no food-specific tone.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548640" y="3657600"/>
            <a:ext cx="73152" cy="685800"/>
          </a:xfrm>
          <a:prstGeom prst="rect">
            <a:avLst/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77240" y="3657600"/>
            <a:ext cx="32918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B1E1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Midjourney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4206240" y="3657600"/>
            <a:ext cx="74980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E5B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Great images, zero marketing copy, no channel structure.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548640" y="4480560"/>
            <a:ext cx="73152" cy="685800"/>
          </a:xfrm>
          <a:prstGeom prst="rect">
            <a:avLst/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77240" y="4480560"/>
            <a:ext cx="32918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B1E1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Hootsuite / Later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4206240" y="4480560"/>
            <a:ext cx="74980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E5B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Schedules content but does not create it — you still need a designer.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548640" y="5303520"/>
            <a:ext cx="73152" cy="685800"/>
          </a:xfrm>
          <a:prstGeom prst="rect">
            <a:avLst/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77240" y="5303520"/>
            <a:ext cx="32918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B1E1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All of the above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4206240" y="5303520"/>
            <a:ext cx="74980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E5B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None combine image + multi-channel copy for the restaurant niche.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65760" y="658368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FoodAds AI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11338560" y="658368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22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EFE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400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  ·  OUR ADVANTAGE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2B1E1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Built for one thing — food marketing.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1097280" cy="73152"/>
          </a:xfrm>
          <a:prstGeom prst="rect">
            <a:avLst/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2103120"/>
            <a:ext cx="5394960" cy="1828800"/>
          </a:xfrm>
          <a:prstGeom prst="roundRect">
            <a:avLst>
              <a:gd name="adj" fmla="val 6000"/>
            </a:avLst>
          </a:prstGeom>
          <a:solidFill>
            <a:srgbClr val="2B1E1B"/>
          </a:solidFill>
          <a:ln w="12700">
            <a:solidFill>
              <a:srgbClr val="2B1E1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22960" y="2423160"/>
            <a:ext cx="502920" cy="502920"/>
          </a:xfrm>
          <a:prstGeom prst="ellipse">
            <a:avLst/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22960" y="242316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★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508760" y="2331720"/>
            <a:ext cx="4297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Food-Tuned LoRA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508760" y="2880360"/>
            <a:ext cx="42976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E7E8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Stable Diffusion adapter trained on 10K curated food images. Textures, plating, restaurant lighting.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217920" y="2103120"/>
            <a:ext cx="5394960" cy="1828800"/>
          </a:xfrm>
          <a:prstGeom prst="roundRect">
            <a:avLst>
              <a:gd name="adj" fmla="val 6000"/>
            </a:avLst>
          </a:prstGeom>
          <a:solidFill>
            <a:srgbClr val="2B1E1B"/>
          </a:solidFill>
          <a:ln w="12700">
            <a:solidFill>
              <a:srgbClr val="2B1E1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492240" y="2423160"/>
            <a:ext cx="502920" cy="502920"/>
          </a:xfrm>
          <a:prstGeom prst="ellipse">
            <a:avLst/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92240" y="242316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★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7178040" y="2331720"/>
            <a:ext cx="4297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One Prompt → Everything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7178040" y="2880360"/>
            <a:ext cx="42976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E7E8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 + Instagram + Google + Email + SMS + Push + 3-Day Calendar in a single flow.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548640" y="4114800"/>
            <a:ext cx="5394960" cy="1828800"/>
          </a:xfrm>
          <a:prstGeom prst="roundRect">
            <a:avLst>
              <a:gd name="adj" fmla="val 6000"/>
            </a:avLst>
          </a:prstGeom>
          <a:solidFill>
            <a:srgbClr val="2B1E1B"/>
          </a:solidFill>
          <a:ln w="12700">
            <a:solidFill>
              <a:srgbClr val="2B1E1B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22960" y="4434840"/>
            <a:ext cx="502920" cy="502920"/>
          </a:xfrm>
          <a:prstGeom prst="ellipse">
            <a:avLst/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22960" y="443484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★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1508760" y="4343400"/>
            <a:ext cx="4297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Restaurant Brand Profiles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1508760" y="4892040"/>
            <a:ext cx="42976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E7E8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Cuisine, tone and identity prefill every generation — consistent brand voice.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6217920" y="4114800"/>
            <a:ext cx="5394960" cy="1828800"/>
          </a:xfrm>
          <a:prstGeom prst="roundRect">
            <a:avLst>
              <a:gd name="adj" fmla="val 6000"/>
            </a:avLst>
          </a:prstGeom>
          <a:solidFill>
            <a:srgbClr val="2B1E1B"/>
          </a:solidFill>
          <a:ln w="12700">
            <a:solidFill>
              <a:srgbClr val="2B1E1B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492240" y="4434840"/>
            <a:ext cx="502920" cy="502920"/>
          </a:xfrm>
          <a:prstGeom prst="ellipse">
            <a:avLst/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492240" y="443484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★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7178040" y="4343400"/>
            <a:ext cx="4297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90%+ Cost Reduction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7178040" y="4892040"/>
            <a:ext cx="42976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E7E8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Replaces $1K–$5K monthly creative retainers with an on-demand AI workspace.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65760" y="658368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FoodAds AI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11338560" y="658368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22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5EFE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400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  ·  SYSTEM ARCHITECTURE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2B1E1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Four services. One workflow.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1097280" cy="73152"/>
          </a:xfrm>
          <a:prstGeom prst="rect">
            <a:avLst/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2377440"/>
            <a:ext cx="2377440" cy="2377440"/>
          </a:xfrm>
          <a:prstGeom prst="roundRect">
            <a:avLst>
              <a:gd name="adj" fmla="val 4615"/>
            </a:avLst>
          </a:prstGeom>
          <a:solidFill>
            <a:srgbClr val="FFFFFF"/>
          </a:solidFill>
          <a:ln w="19050">
            <a:solidFill>
              <a:srgbClr val="B8504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2560320"/>
            <a:ext cx="2377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2B1E1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Frontend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548640" y="310896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E5B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19 · Vite · TS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1463040" y="3703320"/>
            <a:ext cx="548640" cy="45720"/>
          </a:xfrm>
          <a:prstGeom prst="rect">
            <a:avLst/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" y="384048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:5173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3017520" y="3474720"/>
            <a:ext cx="274320" cy="274320"/>
          </a:xfrm>
          <a:prstGeom prst="line">
            <a:avLst/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520440" y="2377440"/>
            <a:ext cx="2377440" cy="2377440"/>
          </a:xfrm>
          <a:prstGeom prst="roundRect">
            <a:avLst>
              <a:gd name="adj" fmla="val 4615"/>
            </a:avLst>
          </a:prstGeom>
          <a:solidFill>
            <a:srgbClr val="FFFFFF"/>
          </a:solidFill>
          <a:ln w="19050">
            <a:solidFill>
              <a:srgbClr val="B8504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520440" y="2560320"/>
            <a:ext cx="2377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2B1E1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Backend API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3520440" y="310896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E5B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ASP.NET Core 8 · EF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434840" y="3703320"/>
            <a:ext cx="548640" cy="45720"/>
          </a:xfrm>
          <a:prstGeom prst="rect">
            <a:avLst/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520440" y="384048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:8080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5989320" y="3474720"/>
            <a:ext cx="274320" cy="274320"/>
          </a:xfrm>
          <a:prstGeom prst="line">
            <a:avLst/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492240" y="2377440"/>
            <a:ext cx="2377440" cy="2377440"/>
          </a:xfrm>
          <a:prstGeom prst="roundRect">
            <a:avLst>
              <a:gd name="adj" fmla="val 4615"/>
            </a:avLst>
          </a:prstGeom>
          <a:solidFill>
            <a:srgbClr val="FFFFFF"/>
          </a:solidFill>
          <a:ln w="19050">
            <a:solidFill>
              <a:srgbClr val="B85042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492240" y="2560320"/>
            <a:ext cx="2377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2B1E1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Python AI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6492240" y="310896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E5B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 · Diffusers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7406640" y="3703320"/>
            <a:ext cx="548640" cy="45720"/>
          </a:xfrm>
          <a:prstGeom prst="rect">
            <a:avLst/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492240" y="384048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:8000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8961120" y="3474720"/>
            <a:ext cx="274320" cy="274320"/>
          </a:xfrm>
          <a:prstGeom prst="line">
            <a:avLst/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9464040" y="2377440"/>
            <a:ext cx="2377440" cy="2377440"/>
          </a:xfrm>
          <a:prstGeom prst="roundRect">
            <a:avLst>
              <a:gd name="adj" fmla="val 4615"/>
            </a:avLst>
          </a:prstGeom>
          <a:solidFill>
            <a:srgbClr val="FFFFFF"/>
          </a:solidFill>
          <a:ln w="19050">
            <a:solidFill>
              <a:srgbClr val="B85042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9464040" y="2560320"/>
            <a:ext cx="2377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2B1E1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PostgreSQL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9464040" y="310896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E5B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+ persistence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10378440" y="3703320"/>
            <a:ext cx="548640" cy="45720"/>
          </a:xfrm>
          <a:prstGeom prst="rect">
            <a:avLst/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9464040" y="384048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:5432</a:t>
            </a:r>
            <a:endParaRPr lang="en-US" sz="1400" dirty="0"/>
          </a:p>
        </p:txBody>
      </p:sp>
      <p:sp>
        <p:nvSpPr>
          <p:cNvPr id="28" name="Shape 26"/>
          <p:cNvSpPr/>
          <p:nvPr/>
        </p:nvSpPr>
        <p:spPr>
          <a:xfrm>
            <a:off x="548640" y="5120640"/>
            <a:ext cx="11064240" cy="1051560"/>
          </a:xfrm>
          <a:prstGeom prst="roundRect">
            <a:avLst>
              <a:gd name="adj" fmla="val 8696"/>
            </a:avLst>
          </a:prstGeom>
          <a:solidFill>
            <a:srgbClr val="2B1E1B"/>
          </a:solidFill>
          <a:ln w="12700">
            <a:solidFill>
              <a:srgbClr val="2B1E1B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48640" y="5120640"/>
            <a:ext cx="1106424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F5EF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🐳  All four services containerized and orchestrated with Docker Compose.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65760" y="658368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FoodAds AI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11338560" y="658368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22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5EFE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400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 ·  USER FLOW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2B1E1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From prompt to publish.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1097280" cy="73152"/>
          </a:xfrm>
          <a:prstGeom prst="rect">
            <a:avLst/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2743200"/>
            <a:ext cx="1508760" cy="1463040"/>
          </a:xfrm>
          <a:prstGeom prst="roundRect">
            <a:avLst>
              <a:gd name="adj" fmla="val 6250"/>
            </a:avLst>
          </a:prstGeom>
          <a:solidFill>
            <a:srgbClr val="2B1E1B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2880360"/>
            <a:ext cx="1508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E9A9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640080" y="3246120"/>
            <a:ext cx="13258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Login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2011680" y="2926080"/>
            <a:ext cx="2743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dirty="0">
                <a:solidFill>
                  <a:srgbClr val="B8504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›</a:t>
            </a:r>
            <a:endParaRPr lang="en-US" sz="3600" dirty="0"/>
          </a:p>
        </p:txBody>
      </p:sp>
      <p:sp>
        <p:nvSpPr>
          <p:cNvPr id="9" name="Shape 7"/>
          <p:cNvSpPr/>
          <p:nvPr/>
        </p:nvSpPr>
        <p:spPr>
          <a:xfrm>
            <a:off x="2148840" y="2743200"/>
            <a:ext cx="1508760" cy="1463040"/>
          </a:xfrm>
          <a:prstGeom prst="roundRect">
            <a:avLst>
              <a:gd name="adj" fmla="val 6250"/>
            </a:avLst>
          </a:prstGeom>
          <a:solidFill>
            <a:srgbClr val="B85042"/>
          </a:solidFill>
          <a:ln/>
        </p:spPr>
      </p:sp>
      <p:sp>
        <p:nvSpPr>
          <p:cNvPr id="10" name="Text 8"/>
          <p:cNvSpPr/>
          <p:nvPr/>
        </p:nvSpPr>
        <p:spPr>
          <a:xfrm>
            <a:off x="2148840" y="2880360"/>
            <a:ext cx="1508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E9A9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2240280" y="3246120"/>
            <a:ext cx="13258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Pick Brand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3611880" y="2926080"/>
            <a:ext cx="2743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dirty="0">
                <a:solidFill>
                  <a:srgbClr val="B8504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›</a:t>
            </a:r>
            <a:endParaRPr lang="en-US" sz="3600" dirty="0"/>
          </a:p>
        </p:txBody>
      </p:sp>
      <p:sp>
        <p:nvSpPr>
          <p:cNvPr id="13" name="Shape 11"/>
          <p:cNvSpPr/>
          <p:nvPr/>
        </p:nvSpPr>
        <p:spPr>
          <a:xfrm>
            <a:off x="3749040" y="2743200"/>
            <a:ext cx="1508760" cy="1463040"/>
          </a:xfrm>
          <a:prstGeom prst="roundRect">
            <a:avLst>
              <a:gd name="adj" fmla="val 6250"/>
            </a:avLst>
          </a:prstGeom>
          <a:solidFill>
            <a:srgbClr val="2B1E1B"/>
          </a:solidFill>
          <a:ln/>
        </p:spPr>
      </p:sp>
      <p:sp>
        <p:nvSpPr>
          <p:cNvPr id="14" name="Text 12"/>
          <p:cNvSpPr/>
          <p:nvPr/>
        </p:nvSpPr>
        <p:spPr>
          <a:xfrm>
            <a:off x="3749040" y="2880360"/>
            <a:ext cx="1508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E9A9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840480" y="3246120"/>
            <a:ext cx="13258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Enter Prompt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5212080" y="2926080"/>
            <a:ext cx="2743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dirty="0">
                <a:solidFill>
                  <a:srgbClr val="B8504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›</a:t>
            </a:r>
            <a:endParaRPr lang="en-US" sz="3600" dirty="0"/>
          </a:p>
        </p:txBody>
      </p:sp>
      <p:sp>
        <p:nvSpPr>
          <p:cNvPr id="17" name="Shape 15"/>
          <p:cNvSpPr/>
          <p:nvPr/>
        </p:nvSpPr>
        <p:spPr>
          <a:xfrm>
            <a:off x="5349240" y="2743200"/>
            <a:ext cx="1508760" cy="1463040"/>
          </a:xfrm>
          <a:prstGeom prst="roundRect">
            <a:avLst>
              <a:gd name="adj" fmla="val 6250"/>
            </a:avLst>
          </a:prstGeom>
          <a:solidFill>
            <a:srgbClr val="B85042"/>
          </a:solidFill>
          <a:ln/>
        </p:spPr>
      </p:sp>
      <p:sp>
        <p:nvSpPr>
          <p:cNvPr id="18" name="Text 16"/>
          <p:cNvSpPr/>
          <p:nvPr/>
        </p:nvSpPr>
        <p:spPr>
          <a:xfrm>
            <a:off x="5349240" y="2880360"/>
            <a:ext cx="1508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E9A9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5440680" y="3246120"/>
            <a:ext cx="13258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AI Enhances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6812280" y="2926080"/>
            <a:ext cx="2743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dirty="0">
                <a:solidFill>
                  <a:srgbClr val="B8504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›</a:t>
            </a:r>
            <a:endParaRPr lang="en-US" sz="3600" dirty="0"/>
          </a:p>
        </p:txBody>
      </p:sp>
      <p:sp>
        <p:nvSpPr>
          <p:cNvPr id="21" name="Shape 19"/>
          <p:cNvSpPr/>
          <p:nvPr/>
        </p:nvSpPr>
        <p:spPr>
          <a:xfrm>
            <a:off x="6949440" y="2743200"/>
            <a:ext cx="1508760" cy="1463040"/>
          </a:xfrm>
          <a:prstGeom prst="roundRect">
            <a:avLst>
              <a:gd name="adj" fmla="val 6250"/>
            </a:avLst>
          </a:prstGeom>
          <a:solidFill>
            <a:srgbClr val="2B1E1B"/>
          </a:solidFill>
          <a:ln/>
        </p:spPr>
      </p:sp>
      <p:sp>
        <p:nvSpPr>
          <p:cNvPr id="22" name="Text 20"/>
          <p:cNvSpPr/>
          <p:nvPr/>
        </p:nvSpPr>
        <p:spPr>
          <a:xfrm>
            <a:off x="6949440" y="2880360"/>
            <a:ext cx="1508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E9A9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7040880" y="3246120"/>
            <a:ext cx="13258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Image + Copy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8412480" y="2926080"/>
            <a:ext cx="2743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dirty="0">
                <a:solidFill>
                  <a:srgbClr val="B8504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›</a:t>
            </a:r>
            <a:endParaRPr lang="en-US" sz="3600" dirty="0"/>
          </a:p>
        </p:txBody>
      </p:sp>
      <p:sp>
        <p:nvSpPr>
          <p:cNvPr id="25" name="Shape 23"/>
          <p:cNvSpPr/>
          <p:nvPr/>
        </p:nvSpPr>
        <p:spPr>
          <a:xfrm>
            <a:off x="8549640" y="2743200"/>
            <a:ext cx="1508760" cy="1463040"/>
          </a:xfrm>
          <a:prstGeom prst="roundRect">
            <a:avLst>
              <a:gd name="adj" fmla="val 6250"/>
            </a:avLst>
          </a:prstGeom>
          <a:solidFill>
            <a:srgbClr val="B85042"/>
          </a:solidFill>
          <a:ln/>
        </p:spPr>
      </p:sp>
      <p:sp>
        <p:nvSpPr>
          <p:cNvPr id="26" name="Text 24"/>
          <p:cNvSpPr/>
          <p:nvPr/>
        </p:nvSpPr>
        <p:spPr>
          <a:xfrm>
            <a:off x="8549640" y="2880360"/>
            <a:ext cx="1508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E9A9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8641080" y="3246120"/>
            <a:ext cx="13258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Preview 5 Channels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10012680" y="2926080"/>
            <a:ext cx="2743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dirty="0">
                <a:solidFill>
                  <a:srgbClr val="B8504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›</a:t>
            </a:r>
            <a:endParaRPr lang="en-US" sz="3600" dirty="0"/>
          </a:p>
        </p:txBody>
      </p:sp>
      <p:sp>
        <p:nvSpPr>
          <p:cNvPr id="29" name="Shape 27"/>
          <p:cNvSpPr/>
          <p:nvPr/>
        </p:nvSpPr>
        <p:spPr>
          <a:xfrm>
            <a:off x="10149840" y="2743200"/>
            <a:ext cx="1508760" cy="1463040"/>
          </a:xfrm>
          <a:prstGeom prst="roundRect">
            <a:avLst>
              <a:gd name="adj" fmla="val 6250"/>
            </a:avLst>
          </a:prstGeom>
          <a:solidFill>
            <a:srgbClr val="2B1E1B"/>
          </a:solidFill>
          <a:ln/>
        </p:spPr>
      </p:sp>
      <p:sp>
        <p:nvSpPr>
          <p:cNvPr id="30" name="Text 28"/>
          <p:cNvSpPr/>
          <p:nvPr/>
        </p:nvSpPr>
        <p:spPr>
          <a:xfrm>
            <a:off x="10149840" y="2880360"/>
            <a:ext cx="1508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E9A9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10241280" y="3246120"/>
            <a:ext cx="13258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Save · Download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548640" y="502920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i="1" dirty="0">
                <a:solidFill>
                  <a:srgbClr val="6E5B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sequential API calls  ·  enhance-prompt  →  image  →  campaign</a:t>
            </a:r>
            <a:endParaRPr lang="en-US" sz="1400" dirty="0"/>
          </a:p>
        </p:txBody>
      </p:sp>
      <p:sp>
        <p:nvSpPr>
          <p:cNvPr id="33" name="Shape 31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65760" y="658368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FoodAds AI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11338560" y="658368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22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5EFE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400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 ·  USER DASHBOARD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2B1E1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authenticated workspace.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1097280" cy="73152"/>
          </a:xfrm>
          <a:prstGeom prst="rect">
            <a:avLst/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2103120"/>
            <a:ext cx="5394960" cy="1783080"/>
          </a:xfrm>
          <a:prstGeom prst="roundRect">
            <a:avLst>
              <a:gd name="adj" fmla="val 5128"/>
            </a:avLst>
          </a:prstGeom>
          <a:solidFill>
            <a:srgbClr val="FFFFFF"/>
          </a:solidFill>
          <a:ln w="12700">
            <a:solidFill>
              <a:srgbClr val="E5D9CE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2103120"/>
            <a:ext cx="137160" cy="1783080"/>
          </a:xfrm>
          <a:prstGeom prst="rect">
            <a:avLst/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2286000"/>
            <a:ext cx="4937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2B1E1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Dashboard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914400" y="2880360"/>
            <a:ext cx="48463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E5B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Overview stats and recent activity.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217920" y="2103120"/>
            <a:ext cx="5394960" cy="1783080"/>
          </a:xfrm>
          <a:prstGeom prst="roundRect">
            <a:avLst>
              <a:gd name="adj" fmla="val 5128"/>
            </a:avLst>
          </a:prstGeom>
          <a:solidFill>
            <a:srgbClr val="FFFFFF"/>
          </a:solidFill>
          <a:ln w="12700">
            <a:solidFill>
              <a:srgbClr val="E5D9CE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217920" y="2103120"/>
            <a:ext cx="137160" cy="1783080"/>
          </a:xfrm>
          <a:prstGeom prst="rect">
            <a:avLst/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583680" y="2286000"/>
            <a:ext cx="4937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2B1E1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Generator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6583680" y="2880360"/>
            <a:ext cx="48463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E5B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core studio — prompt, brand, model, hardware; 5-tab live preview.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548640" y="4069080"/>
            <a:ext cx="5394960" cy="1783080"/>
          </a:xfrm>
          <a:prstGeom prst="roundRect">
            <a:avLst>
              <a:gd name="adj" fmla="val 5128"/>
            </a:avLst>
          </a:prstGeom>
          <a:solidFill>
            <a:srgbClr val="FFFFFF"/>
          </a:solidFill>
          <a:ln w="12700">
            <a:solidFill>
              <a:srgbClr val="E5D9CE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48640" y="4069080"/>
            <a:ext cx="137160" cy="1783080"/>
          </a:xfrm>
          <a:prstGeom prst="rect">
            <a:avLst/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14400" y="4251960"/>
            <a:ext cx="4937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2B1E1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History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914400" y="4846320"/>
            <a:ext cx="48463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E5B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saved campaigns with image previews and favorites.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6217920" y="4069080"/>
            <a:ext cx="5394960" cy="1783080"/>
          </a:xfrm>
          <a:prstGeom prst="roundRect">
            <a:avLst>
              <a:gd name="adj" fmla="val 5128"/>
            </a:avLst>
          </a:prstGeom>
          <a:solidFill>
            <a:srgbClr val="FFFFFF"/>
          </a:solidFill>
          <a:ln w="12700">
            <a:solidFill>
              <a:srgbClr val="E5D9CE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217920" y="4069080"/>
            <a:ext cx="137160" cy="1783080"/>
          </a:xfrm>
          <a:prstGeom prst="rect">
            <a:avLst/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583680" y="4251960"/>
            <a:ext cx="4937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2B1E1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Restaurants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6583680" y="4846320"/>
            <a:ext cx="48463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E5B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CRUD brand profiles — name, cuisine, tone, logo.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65760" y="658368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FoodAds AI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11338560" y="658368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22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5EFE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400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 ·  FRONTEND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2B1E1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React 19 · TypeScript · Vite.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1097280" cy="73152"/>
          </a:xfrm>
          <a:prstGeom prst="rect">
            <a:avLst/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2103120"/>
            <a:ext cx="2697480" cy="594360"/>
          </a:xfrm>
          <a:prstGeom prst="roundRect">
            <a:avLst>
              <a:gd name="adj" fmla="val 12308"/>
            </a:avLst>
          </a:prstGeom>
          <a:solidFill>
            <a:srgbClr val="2B1E1B"/>
          </a:solidFill>
          <a:ln w="12700">
            <a:solidFill>
              <a:srgbClr val="2B1E1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2103120"/>
            <a:ext cx="2697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5EF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19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3429000" y="2103120"/>
            <a:ext cx="2697480" cy="594360"/>
          </a:xfrm>
          <a:prstGeom prst="roundRect">
            <a:avLst>
              <a:gd name="adj" fmla="val 12308"/>
            </a:avLst>
          </a:prstGeom>
          <a:solidFill>
            <a:srgbClr val="2B1E1B"/>
          </a:solidFill>
          <a:ln w="12700">
            <a:solidFill>
              <a:srgbClr val="2B1E1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29000" y="2103120"/>
            <a:ext cx="2697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5EF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TypeScript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309360" y="2103120"/>
            <a:ext cx="2697480" cy="594360"/>
          </a:xfrm>
          <a:prstGeom prst="roundRect">
            <a:avLst>
              <a:gd name="adj" fmla="val 12308"/>
            </a:avLst>
          </a:prstGeom>
          <a:solidFill>
            <a:srgbClr val="2B1E1B"/>
          </a:solidFill>
          <a:ln w="12700">
            <a:solidFill>
              <a:srgbClr val="2B1E1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309360" y="2103120"/>
            <a:ext cx="2697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5EF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Vite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9189720" y="2103120"/>
            <a:ext cx="2697480" cy="594360"/>
          </a:xfrm>
          <a:prstGeom prst="roundRect">
            <a:avLst>
              <a:gd name="adj" fmla="val 12308"/>
            </a:avLst>
          </a:prstGeom>
          <a:solidFill>
            <a:srgbClr val="2B1E1B"/>
          </a:solidFill>
          <a:ln w="12700">
            <a:solidFill>
              <a:srgbClr val="2B1E1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189720" y="2103120"/>
            <a:ext cx="2697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5EF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Router v6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548640" y="2834640"/>
            <a:ext cx="2697480" cy="594360"/>
          </a:xfrm>
          <a:prstGeom prst="roundRect">
            <a:avLst>
              <a:gd name="adj" fmla="val 12308"/>
            </a:avLst>
          </a:prstGeom>
          <a:solidFill>
            <a:srgbClr val="2B1E1B"/>
          </a:solidFill>
          <a:ln w="12700">
            <a:solidFill>
              <a:srgbClr val="2B1E1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48640" y="2834640"/>
            <a:ext cx="2697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5EF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TanStack Query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3429000" y="2834640"/>
            <a:ext cx="2697480" cy="594360"/>
          </a:xfrm>
          <a:prstGeom prst="roundRect">
            <a:avLst>
              <a:gd name="adj" fmla="val 12308"/>
            </a:avLst>
          </a:prstGeom>
          <a:solidFill>
            <a:srgbClr val="2B1E1B"/>
          </a:solidFill>
          <a:ln w="12700">
            <a:solidFill>
              <a:srgbClr val="2B1E1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429000" y="2834640"/>
            <a:ext cx="2697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5EF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Axios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6309360" y="2834640"/>
            <a:ext cx="2697480" cy="594360"/>
          </a:xfrm>
          <a:prstGeom prst="roundRect">
            <a:avLst>
              <a:gd name="adj" fmla="val 12308"/>
            </a:avLst>
          </a:prstGeom>
          <a:solidFill>
            <a:srgbClr val="2B1E1B"/>
          </a:solidFill>
          <a:ln w="12700">
            <a:solidFill>
              <a:srgbClr val="2B1E1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309360" y="2834640"/>
            <a:ext cx="2697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5EF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Hook Form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9189720" y="2834640"/>
            <a:ext cx="2697480" cy="594360"/>
          </a:xfrm>
          <a:prstGeom prst="roundRect">
            <a:avLst>
              <a:gd name="adj" fmla="val 12308"/>
            </a:avLst>
          </a:prstGeom>
          <a:solidFill>
            <a:srgbClr val="2B1E1B"/>
          </a:solidFill>
          <a:ln w="12700">
            <a:solidFill>
              <a:srgbClr val="2B1E1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189720" y="2834640"/>
            <a:ext cx="2697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5EF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Zod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548640" y="3566160"/>
            <a:ext cx="2697480" cy="594360"/>
          </a:xfrm>
          <a:prstGeom prst="roundRect">
            <a:avLst>
              <a:gd name="adj" fmla="val 12308"/>
            </a:avLst>
          </a:prstGeom>
          <a:solidFill>
            <a:srgbClr val="2B1E1B"/>
          </a:solidFill>
          <a:ln w="12700">
            <a:solidFill>
              <a:srgbClr val="2B1E1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48640" y="3566160"/>
            <a:ext cx="2697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5EF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Framer Motion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3429000" y="3566160"/>
            <a:ext cx="2697480" cy="594360"/>
          </a:xfrm>
          <a:prstGeom prst="roundRect">
            <a:avLst>
              <a:gd name="adj" fmla="val 12308"/>
            </a:avLst>
          </a:prstGeom>
          <a:solidFill>
            <a:srgbClr val="2B1E1B"/>
          </a:solidFill>
          <a:ln w="12700">
            <a:solidFill>
              <a:srgbClr val="2B1E1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429000" y="3566160"/>
            <a:ext cx="2697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5EF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Lucide Icons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6309360" y="3566160"/>
            <a:ext cx="2697480" cy="594360"/>
          </a:xfrm>
          <a:prstGeom prst="roundRect">
            <a:avLst>
              <a:gd name="adj" fmla="val 12308"/>
            </a:avLst>
          </a:prstGeom>
          <a:solidFill>
            <a:srgbClr val="2B1E1B"/>
          </a:solidFill>
          <a:ln w="12700">
            <a:solidFill>
              <a:srgbClr val="2B1E1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309360" y="3566160"/>
            <a:ext cx="2697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5EF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Recharts</a:t>
            </a:r>
            <a:endParaRPr lang="en-US" sz="1400" dirty="0"/>
          </a:p>
        </p:txBody>
      </p:sp>
      <p:sp>
        <p:nvSpPr>
          <p:cNvPr id="27" name="Shape 25"/>
          <p:cNvSpPr/>
          <p:nvPr/>
        </p:nvSpPr>
        <p:spPr>
          <a:xfrm>
            <a:off x="9189720" y="3566160"/>
            <a:ext cx="2697480" cy="594360"/>
          </a:xfrm>
          <a:prstGeom prst="roundRect">
            <a:avLst>
              <a:gd name="adj" fmla="val 12308"/>
            </a:avLst>
          </a:prstGeom>
          <a:solidFill>
            <a:srgbClr val="2B1E1B"/>
          </a:solidFill>
          <a:ln w="12700">
            <a:solidFill>
              <a:srgbClr val="2B1E1B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9189720" y="3566160"/>
            <a:ext cx="2697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5EF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Tailwind</a:t>
            </a:r>
            <a:endParaRPr lang="en-US" sz="1400" dirty="0"/>
          </a:p>
        </p:txBody>
      </p:sp>
      <p:sp>
        <p:nvSpPr>
          <p:cNvPr id="29" name="Shape 27"/>
          <p:cNvSpPr/>
          <p:nvPr/>
        </p:nvSpPr>
        <p:spPr>
          <a:xfrm>
            <a:off x="548640" y="4709160"/>
            <a:ext cx="11064240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E5D9CE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77240" y="48006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B8504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Generator Page — the core studio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777240" y="5166360"/>
            <a:ext cx="10972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13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5-tab preview: Instagram · Google Search · Email · Mobile (SMS + Push) · Content Calendar.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A13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Copy anything · Download image · Download styled HTML report.</a:t>
            </a:r>
            <a:endParaRPr lang="en-US" sz="1300" dirty="0"/>
          </a:p>
        </p:txBody>
      </p:sp>
      <p:sp>
        <p:nvSpPr>
          <p:cNvPr id="32" name="Shape 30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65760" y="658368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FoodAds AI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11338560" y="658368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/ 22</a:t>
            </a:r>
            <a:endParaRPr lang="en-US" sz="11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5EFE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400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 ·  BACKEND (ASP.NET CORE)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2B1E1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Clean architecture, minimal API.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1097280" cy="73152"/>
          </a:xfrm>
          <a:prstGeom prst="rect">
            <a:avLst/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2103120"/>
            <a:ext cx="2651760" cy="1737360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 w="12700">
            <a:solidFill>
              <a:srgbClr val="B8504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85800" y="219456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B8504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FoodAdsAI.Api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85800" y="2697480"/>
            <a:ext cx="237744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E5B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Endpoints, middleware, wiring.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410712" y="2103120"/>
            <a:ext cx="2651760" cy="1737360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 w="12700">
            <a:solidFill>
              <a:srgbClr val="B8504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547872" y="219456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B8504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FoodAdsAI.Application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3547872" y="2697480"/>
            <a:ext cx="237744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E5B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Services, DTOs, abstractions.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272784" y="2103120"/>
            <a:ext cx="2651760" cy="1737360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 w="12700">
            <a:solidFill>
              <a:srgbClr val="B8504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09944" y="219456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B8504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FoodAdsAI.Domain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6409944" y="2697480"/>
            <a:ext cx="237744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E5B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Entity models — plain C#.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9134856" y="2103120"/>
            <a:ext cx="2651760" cy="1737360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 w="12700">
            <a:solidFill>
              <a:srgbClr val="B8504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272016" y="219456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B8504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FoodAdsAI.Infrastructure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9272016" y="2697480"/>
            <a:ext cx="237744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E5B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 Core, JWT, Python AI client.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548640" y="416052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B1E1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API Endpoint Groups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548640" y="4617720"/>
            <a:ext cx="2148840" cy="548640"/>
          </a:xfrm>
          <a:prstGeom prst="roundRect">
            <a:avLst>
              <a:gd name="adj" fmla="val 13333"/>
            </a:avLst>
          </a:prstGeom>
          <a:solidFill>
            <a:srgbClr val="2B1E1B"/>
          </a:solidFill>
          <a:ln w="12700">
            <a:solidFill>
              <a:srgbClr val="2B1E1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48640" y="4617720"/>
            <a:ext cx="2148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E9A9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/api/auth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2834640" y="4617720"/>
            <a:ext cx="2148840" cy="548640"/>
          </a:xfrm>
          <a:prstGeom prst="roundRect">
            <a:avLst>
              <a:gd name="adj" fmla="val 13333"/>
            </a:avLst>
          </a:prstGeom>
          <a:solidFill>
            <a:srgbClr val="2B1E1B"/>
          </a:solidFill>
          <a:ln w="12700">
            <a:solidFill>
              <a:srgbClr val="2B1E1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834640" y="4617720"/>
            <a:ext cx="2148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E9A9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/api/generation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5120640" y="4617720"/>
            <a:ext cx="2148840" cy="548640"/>
          </a:xfrm>
          <a:prstGeom prst="roundRect">
            <a:avLst>
              <a:gd name="adj" fmla="val 13333"/>
            </a:avLst>
          </a:prstGeom>
          <a:solidFill>
            <a:srgbClr val="2B1E1B"/>
          </a:solidFill>
          <a:ln w="12700">
            <a:solidFill>
              <a:srgbClr val="2B1E1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120640" y="4617720"/>
            <a:ext cx="2148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E9A9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/api/history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7406640" y="4617720"/>
            <a:ext cx="2148840" cy="548640"/>
          </a:xfrm>
          <a:prstGeom prst="roundRect">
            <a:avLst>
              <a:gd name="adj" fmla="val 13333"/>
            </a:avLst>
          </a:prstGeom>
          <a:solidFill>
            <a:srgbClr val="2B1E1B"/>
          </a:solidFill>
          <a:ln w="12700">
            <a:solidFill>
              <a:srgbClr val="2B1E1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406640" y="4617720"/>
            <a:ext cx="2148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E9A9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/api/favorites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9692640" y="4617720"/>
            <a:ext cx="2148840" cy="548640"/>
          </a:xfrm>
          <a:prstGeom prst="roundRect">
            <a:avLst>
              <a:gd name="adj" fmla="val 13333"/>
            </a:avLst>
          </a:prstGeom>
          <a:solidFill>
            <a:srgbClr val="2B1E1B"/>
          </a:solidFill>
          <a:ln w="12700">
            <a:solidFill>
              <a:srgbClr val="2B1E1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9692640" y="4617720"/>
            <a:ext cx="2148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E9A9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/api/restaurants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548640" y="553212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6E5B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 Bearer Auth  ·  60-min access token  ·  30-day refresh  ·  auto-refresh on 401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65760" y="658368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FoodAds AI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11338560" y="658368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/ 22</a:t>
            </a:r>
            <a:endParaRPr lang="en-US" sz="11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5EFE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400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 ·  PYTHON AI SERVICE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2B1E1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FastAPI · Diffusers · Groq.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1097280" cy="73152"/>
          </a:xfrm>
          <a:prstGeom prst="rect">
            <a:avLst/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2103120"/>
            <a:ext cx="1106424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E5D9CE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31520" y="2286000"/>
            <a:ext cx="502920" cy="502920"/>
          </a:xfrm>
          <a:prstGeom prst="ellipse">
            <a:avLst/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0" y="22860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417320" y="2194560"/>
            <a:ext cx="32004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B1E1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PromptEnhancer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4663440" y="2194560"/>
            <a:ext cx="67665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E5B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Groq LLaMA 3.1 turns raw prompts into pro Stable Diffusion briefs.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48640" y="3063240"/>
            <a:ext cx="1106424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E5D9CE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31520" y="3246120"/>
            <a:ext cx="502920" cy="502920"/>
          </a:xfrm>
          <a:prstGeom prst="ellipse">
            <a:avLst/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31520" y="324612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417320" y="3154680"/>
            <a:ext cx="32004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B1E1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GenerationService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4663440" y="3154680"/>
            <a:ext cx="67665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E5B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Orchestrates enhance → image. Supports base, LoRA, custom (HF / DALL-E).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548640" y="4023360"/>
            <a:ext cx="1106424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E5D9CE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31520" y="4206240"/>
            <a:ext cx="502920" cy="502920"/>
          </a:xfrm>
          <a:prstGeom prst="ellipse">
            <a:avLst/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31520" y="420624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417320" y="4114800"/>
            <a:ext cx="32004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B1E1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MarketingService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4663440" y="4114800"/>
            <a:ext cx="67665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E5B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Groq JSON mode returns all 16 campaign copy fields in one call.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548640" y="4983480"/>
            <a:ext cx="1106424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E5D9CE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731520" y="5166360"/>
            <a:ext cx="502920" cy="502920"/>
          </a:xfrm>
          <a:prstGeom prst="ellipse">
            <a:avLst/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31520" y="516636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1417320" y="5074920"/>
            <a:ext cx="32004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B1E1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ModelRegistry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4663440" y="5074920"/>
            <a:ext cx="67665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E5B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Loads SD + LoRA at startup. Validates CUDA with real tensor op.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548640" y="598932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E5B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Endpoints: /v1/health · /v1/ready · /v1/prompt/enhance · /v1/images/generate · /v1/campaigns/generate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65760" y="658368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FoodAds AI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11338560" y="658368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/ 22</a:t>
            </a:r>
            <a:endParaRPr lang="en-US" sz="11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5EFE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400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 ·  TECHNOLOGIES &amp; LANGUAGES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2B1E1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full stack at a glance.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1097280" cy="73152"/>
          </a:xfrm>
          <a:prstGeom prst="rect">
            <a:avLst/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2103120"/>
            <a:ext cx="2651760" cy="4023360"/>
          </a:xfrm>
          <a:prstGeom prst="roundRect">
            <a:avLst>
              <a:gd name="adj" fmla="val 3448"/>
            </a:avLst>
          </a:prstGeom>
          <a:solidFill>
            <a:srgbClr val="FFFFFF"/>
          </a:solidFill>
          <a:ln w="12700">
            <a:solidFill>
              <a:srgbClr val="E5D9CE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2103120"/>
            <a:ext cx="2651760" cy="457200"/>
          </a:xfrm>
          <a:prstGeom prst="rect">
            <a:avLst/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210312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Languages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731520" y="274320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13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TypeScript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731520" y="324612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13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C# (.NET 8)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731520" y="374904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13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Python 3.11+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731520" y="425196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13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SQL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3410712" y="2103120"/>
            <a:ext cx="2651760" cy="4023360"/>
          </a:xfrm>
          <a:prstGeom prst="roundRect">
            <a:avLst>
              <a:gd name="adj" fmla="val 3448"/>
            </a:avLst>
          </a:prstGeom>
          <a:solidFill>
            <a:srgbClr val="FFFFFF"/>
          </a:solidFill>
          <a:ln w="12700">
            <a:solidFill>
              <a:srgbClr val="E5D9CE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410712" y="2103120"/>
            <a:ext cx="2651760" cy="457200"/>
          </a:xfrm>
          <a:prstGeom prst="rect">
            <a:avLst/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410712" y="210312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AI / ML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3593592" y="274320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13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PyTorch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3593592" y="324612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13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Diffusers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3593592" y="374904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13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PEFT (LoRA)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3593592" y="425196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13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Transformers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3593592" y="475488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13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Groq · LLaMA 3.1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3593592" y="525780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13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CLIP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6272784" y="2103120"/>
            <a:ext cx="2651760" cy="4023360"/>
          </a:xfrm>
          <a:prstGeom prst="roundRect">
            <a:avLst>
              <a:gd name="adj" fmla="val 3448"/>
            </a:avLst>
          </a:prstGeom>
          <a:solidFill>
            <a:srgbClr val="FFFFFF"/>
          </a:solidFill>
          <a:ln w="12700">
            <a:solidFill>
              <a:srgbClr val="E5D9CE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272784" y="2103120"/>
            <a:ext cx="2651760" cy="457200"/>
          </a:xfrm>
          <a:prstGeom prst="rect">
            <a:avLst/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272784" y="210312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Web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6455664" y="274320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13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React 19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455664" y="324612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13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ASP.NET Core 8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6455664" y="374904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13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FastAPI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6455664" y="425196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13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EF Core · Npgsql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9134856" y="2103120"/>
            <a:ext cx="2651760" cy="4023360"/>
          </a:xfrm>
          <a:prstGeom prst="roundRect">
            <a:avLst>
              <a:gd name="adj" fmla="val 3448"/>
            </a:avLst>
          </a:prstGeom>
          <a:solidFill>
            <a:srgbClr val="FFFFFF"/>
          </a:solidFill>
          <a:ln w="12700">
            <a:solidFill>
              <a:srgbClr val="E5D9CE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9134856" y="2103120"/>
            <a:ext cx="2651760" cy="457200"/>
          </a:xfrm>
          <a:prstGeom prst="rect">
            <a:avLst/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9134856" y="210312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Infra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9317736" y="274320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13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Docker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9317736" y="324612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13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Docker Compose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9317736" y="374904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13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PostgreSQL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9317736" y="425196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13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NVIDIA CUDA 12.1</a:t>
            </a:r>
            <a:endParaRPr lang="en-US" sz="1300" dirty="0"/>
          </a:p>
        </p:txBody>
      </p:sp>
      <p:sp>
        <p:nvSpPr>
          <p:cNvPr id="35" name="Shape 33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365760" y="658368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FoodAds AI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11338560" y="658368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/ 22</a:t>
            </a:r>
            <a:endParaRPr lang="en-US" sz="11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5EFE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400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  ·  MODEL — DATASET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2B1E1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Curated from 600K COCO samples.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1097280" cy="73152"/>
          </a:xfrm>
          <a:prstGeom prst="rect">
            <a:avLst/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2103120"/>
            <a:ext cx="5394960" cy="1371600"/>
          </a:xfrm>
          <a:prstGeom prst="roundRect">
            <a:avLst>
              <a:gd name="adj" fmla="val 6667"/>
            </a:avLst>
          </a:prstGeom>
          <a:solidFill>
            <a:srgbClr val="2B1E1B"/>
          </a:solidFill>
          <a:ln w="12700">
            <a:solidFill>
              <a:srgbClr val="2B1E1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77240" y="2240280"/>
            <a:ext cx="21945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E9A9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600K</a:t>
            </a:r>
            <a:endParaRPr lang="en-US" sz="3800" dirty="0"/>
          </a:p>
        </p:txBody>
      </p:sp>
      <p:sp>
        <p:nvSpPr>
          <p:cNvPr id="7" name="Text 5"/>
          <p:cNvSpPr/>
          <p:nvPr/>
        </p:nvSpPr>
        <p:spPr>
          <a:xfrm>
            <a:off x="3017520" y="2240280"/>
            <a:ext cx="28346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5EF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COCO samples scanned (streaming).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217920" y="2103120"/>
            <a:ext cx="5394960" cy="1371600"/>
          </a:xfrm>
          <a:prstGeom prst="roundRect">
            <a:avLst>
              <a:gd name="adj" fmla="val 6667"/>
            </a:avLst>
          </a:prstGeom>
          <a:solidFill>
            <a:srgbClr val="2B1E1B"/>
          </a:solidFill>
          <a:ln w="12700">
            <a:solidFill>
              <a:srgbClr val="2B1E1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46520" y="2240280"/>
            <a:ext cx="21945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E9A9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16,782</a:t>
            </a:r>
            <a:endParaRPr lang="en-US" sz="3800" dirty="0"/>
          </a:p>
        </p:txBody>
      </p:sp>
      <p:sp>
        <p:nvSpPr>
          <p:cNvPr id="10" name="Text 8"/>
          <p:cNvSpPr/>
          <p:nvPr/>
        </p:nvSpPr>
        <p:spPr>
          <a:xfrm>
            <a:off x="8686800" y="2240280"/>
            <a:ext cx="28346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5EF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Food images matched by keyword filter.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548640" y="3657600"/>
            <a:ext cx="5394960" cy="1371600"/>
          </a:xfrm>
          <a:prstGeom prst="roundRect">
            <a:avLst>
              <a:gd name="adj" fmla="val 6667"/>
            </a:avLst>
          </a:prstGeom>
          <a:solidFill>
            <a:srgbClr val="2B1E1B"/>
          </a:solidFill>
          <a:ln w="12700">
            <a:solidFill>
              <a:srgbClr val="2B1E1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77240" y="3794760"/>
            <a:ext cx="21945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E9A9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11,108</a:t>
            </a:r>
            <a:endParaRPr lang="en-US" sz="3800" dirty="0"/>
          </a:p>
        </p:txBody>
      </p:sp>
      <p:sp>
        <p:nvSpPr>
          <p:cNvPr id="13" name="Text 11"/>
          <p:cNvSpPr/>
          <p:nvPr/>
        </p:nvSpPr>
        <p:spPr>
          <a:xfrm>
            <a:off x="3017520" y="3794760"/>
            <a:ext cx="28346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5EF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Passed CLIP relevance score ≥ 0.50 (66%).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6217920" y="3657600"/>
            <a:ext cx="5394960" cy="1371600"/>
          </a:xfrm>
          <a:prstGeom prst="roundRect">
            <a:avLst>
              <a:gd name="adj" fmla="val 6667"/>
            </a:avLst>
          </a:prstGeom>
          <a:solidFill>
            <a:srgbClr val="2B1E1B"/>
          </a:solidFill>
          <a:ln w="12700">
            <a:solidFill>
              <a:srgbClr val="2B1E1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46520" y="3794760"/>
            <a:ext cx="21945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E9A9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10,036</a:t>
            </a:r>
            <a:endParaRPr lang="en-US" sz="3800" dirty="0"/>
          </a:p>
        </p:txBody>
      </p:sp>
      <p:sp>
        <p:nvSpPr>
          <p:cNvPr id="16" name="Text 14"/>
          <p:cNvSpPr/>
          <p:nvPr/>
        </p:nvSpPr>
        <p:spPr>
          <a:xfrm>
            <a:off x="8686800" y="3794760"/>
            <a:ext cx="28346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5EF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balanced set across 19 categories.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548640" y="539496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i="1" dirty="0">
                <a:solidFill>
                  <a:srgbClr val="6E5B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Split — Train 9,032   ·   Val 502   ·   Test 502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" y="658368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FoodAds AI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11338560" y="658368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 / 22</a:t>
            </a:r>
            <a:endParaRPr lang="en-US" sz="11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5EFE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400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  ·  MODEL — LoRA FINE-TUNING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2B1E1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Only 0.39% of parameters trained.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1097280" cy="73152"/>
          </a:xfrm>
          <a:prstGeom prst="rect">
            <a:avLst/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2103120"/>
            <a:ext cx="73152" cy="822960"/>
          </a:xfrm>
          <a:prstGeom prst="rect">
            <a:avLst/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2103120"/>
            <a:ext cx="23774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6E5B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Model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3154680" y="2103120"/>
            <a:ext cx="2788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B1E1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Realistic Vision v5.1 (SD 1.5)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6217920" y="2103120"/>
            <a:ext cx="73152" cy="822960"/>
          </a:xfrm>
          <a:prstGeom prst="rect">
            <a:avLst/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00800" y="2103120"/>
            <a:ext cx="23774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6E5B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Adapter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8823960" y="2103120"/>
            <a:ext cx="2788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B1E1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LoRA on UNet only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548640" y="3063240"/>
            <a:ext cx="73152" cy="822960"/>
          </a:xfrm>
          <a:prstGeom prst="rect">
            <a:avLst/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31520" y="3063240"/>
            <a:ext cx="23774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6E5B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 (r) / Alpha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3154680" y="3063240"/>
            <a:ext cx="2788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B1E1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8 / 16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6217920" y="3063240"/>
            <a:ext cx="73152" cy="822960"/>
          </a:xfrm>
          <a:prstGeom prst="rect">
            <a:avLst/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00800" y="3063240"/>
            <a:ext cx="23774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6E5B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Trainable Params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8823960" y="3063240"/>
            <a:ext cx="2788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B1E1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3.39 M / 862.9 M  (0.39%)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548640" y="4023360"/>
            <a:ext cx="73152" cy="822960"/>
          </a:xfrm>
          <a:prstGeom prst="rect">
            <a:avLst/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31520" y="4023360"/>
            <a:ext cx="23774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6E5B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Optimizer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3154680" y="4023360"/>
            <a:ext cx="2788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B1E1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AdamW · lr 1e-4 · cosine decay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6217920" y="4023360"/>
            <a:ext cx="73152" cy="822960"/>
          </a:xfrm>
          <a:prstGeom prst="rect">
            <a:avLst/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400800" y="4023360"/>
            <a:ext cx="23774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6E5B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Precision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8823960" y="4023360"/>
            <a:ext cx="2788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B1E1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fp16 · grad checkpointing · VAE slicing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548640" y="4983480"/>
            <a:ext cx="73152" cy="822960"/>
          </a:xfrm>
          <a:prstGeom prst="rect">
            <a:avLst/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31520" y="4983480"/>
            <a:ext cx="23774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6E5B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Epochs · Batch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3154680" y="4983480"/>
            <a:ext cx="2788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B1E1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 epochs · batch 16 · accum 4 (eff. 64)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6217920" y="4983480"/>
            <a:ext cx="73152" cy="822960"/>
          </a:xfrm>
          <a:prstGeom prst="rect">
            <a:avLst/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400800" y="4983480"/>
            <a:ext cx="23774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6E5B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Hardware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8823960" y="4983480"/>
            <a:ext cx="2788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B1E1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Kaggle · NVIDIA Tesla T4 · 15.6 GB VRAM</a:t>
            </a:r>
            <a:endParaRPr lang="en-US" sz="1400" dirty="0"/>
          </a:p>
        </p:txBody>
      </p:sp>
      <p:sp>
        <p:nvSpPr>
          <p:cNvPr id="29" name="Shape 27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65760" y="658368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FoodAds AI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11338560" y="658368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 / 22</a:t>
            </a:r>
            <a:endParaRPr lang="en-US" sz="11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5EFE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400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  ·  MODEL — RESULTS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2B1E1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LoRA measurably beats the baseline.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1097280" cy="73152"/>
          </a:xfrm>
          <a:prstGeom prst="rect">
            <a:avLst/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2011680"/>
            <a:ext cx="3108960" cy="640080"/>
          </a:xfrm>
          <a:prstGeom prst="rect">
            <a:avLst/>
          </a:prstGeom>
          <a:solidFill>
            <a:srgbClr val="2B1E1B"/>
          </a:solidFill>
          <a:ln w="12700">
            <a:solidFill>
              <a:srgbClr val="E5D9C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85800" y="2011680"/>
            <a:ext cx="28346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Model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657600" y="2011680"/>
            <a:ext cx="1645920" cy="640080"/>
          </a:xfrm>
          <a:prstGeom prst="rect">
            <a:avLst/>
          </a:prstGeom>
          <a:solidFill>
            <a:srgbClr val="2B1E1B"/>
          </a:solidFill>
          <a:ln w="12700">
            <a:solidFill>
              <a:srgbClr val="E5D9C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794760" y="2011680"/>
            <a:ext cx="1371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IS ↑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303520" y="2011680"/>
            <a:ext cx="1828800" cy="640080"/>
          </a:xfrm>
          <a:prstGeom prst="rect">
            <a:avLst/>
          </a:prstGeom>
          <a:solidFill>
            <a:srgbClr val="2B1E1B"/>
          </a:solidFill>
          <a:ln w="12700">
            <a:solidFill>
              <a:srgbClr val="E5D9C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440680" y="2011680"/>
            <a:ext cx="1554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FID ↓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7132320" y="2011680"/>
            <a:ext cx="4663440" cy="640080"/>
          </a:xfrm>
          <a:prstGeom prst="rect">
            <a:avLst/>
          </a:prstGeom>
          <a:solidFill>
            <a:srgbClr val="2B1E1B"/>
          </a:solidFill>
          <a:ln w="12700">
            <a:solidFill>
              <a:srgbClr val="E5D9C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269480" y="2011680"/>
            <a:ext cx="4389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Notes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548640" y="2651760"/>
            <a:ext cx="310896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5D9C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85800" y="2651760"/>
            <a:ext cx="28346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13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 SD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3657600" y="2651760"/>
            <a:ext cx="164592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5D9C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794760" y="2651760"/>
            <a:ext cx="1371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13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4.606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5303520" y="2651760"/>
            <a:ext cx="182880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5D9C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440680" y="2651760"/>
            <a:ext cx="1554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13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175.087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132320" y="2651760"/>
            <a:ext cx="466344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5D9CE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269480" y="2651760"/>
            <a:ext cx="4389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13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fine-tuning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548640" y="3291840"/>
            <a:ext cx="3108960" cy="640080"/>
          </a:xfrm>
          <a:prstGeom prst="rect">
            <a:avLst/>
          </a:prstGeom>
          <a:solidFill>
            <a:srgbClr val="F5E1D0"/>
          </a:solidFill>
          <a:ln w="12700">
            <a:solidFill>
              <a:srgbClr val="E5D9C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85800" y="3291840"/>
            <a:ext cx="28346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SD + LoRA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3657600" y="3291840"/>
            <a:ext cx="1645920" cy="640080"/>
          </a:xfrm>
          <a:prstGeom prst="rect">
            <a:avLst/>
          </a:prstGeom>
          <a:solidFill>
            <a:srgbClr val="F5E1D0"/>
          </a:solidFill>
          <a:ln w="12700">
            <a:solidFill>
              <a:srgbClr val="E5D9CE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794760" y="3291840"/>
            <a:ext cx="1371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5.117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5303520" y="3291840"/>
            <a:ext cx="1828800" cy="640080"/>
          </a:xfrm>
          <a:prstGeom prst="rect">
            <a:avLst/>
          </a:prstGeom>
          <a:solidFill>
            <a:srgbClr val="F5E1D0"/>
          </a:solidFill>
          <a:ln w="12700">
            <a:solidFill>
              <a:srgbClr val="E5D9CE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440680" y="3291840"/>
            <a:ext cx="1554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171.946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7132320" y="3291840"/>
            <a:ext cx="4663440" cy="640080"/>
          </a:xfrm>
          <a:prstGeom prst="rect">
            <a:avLst/>
          </a:prstGeom>
          <a:solidFill>
            <a:srgbClr val="F5E1D0"/>
          </a:solidFill>
          <a:ln w="12700">
            <a:solidFill>
              <a:srgbClr val="E5D9CE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7269480" y="3291840"/>
            <a:ext cx="4389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+0.51 IS   −3.14 FID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548640" y="3931920"/>
            <a:ext cx="310896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5D9CE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85800" y="3931920"/>
            <a:ext cx="28346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13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SD + LoRA + Groq</a:t>
            </a:r>
            <a:endParaRPr lang="en-US" sz="1300" dirty="0"/>
          </a:p>
        </p:txBody>
      </p:sp>
      <p:sp>
        <p:nvSpPr>
          <p:cNvPr id="31" name="Shape 29"/>
          <p:cNvSpPr/>
          <p:nvPr/>
        </p:nvSpPr>
        <p:spPr>
          <a:xfrm>
            <a:off x="3657600" y="3931920"/>
            <a:ext cx="164592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5D9CE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794760" y="3931920"/>
            <a:ext cx="1371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13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5.117</a:t>
            </a:r>
            <a:endParaRPr lang="en-US" sz="1300" dirty="0"/>
          </a:p>
        </p:txBody>
      </p:sp>
      <p:sp>
        <p:nvSpPr>
          <p:cNvPr id="33" name="Shape 31"/>
          <p:cNvSpPr/>
          <p:nvPr/>
        </p:nvSpPr>
        <p:spPr>
          <a:xfrm>
            <a:off x="5303520" y="3931920"/>
            <a:ext cx="182880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5D9CE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440680" y="3931920"/>
            <a:ext cx="1554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13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171.946</a:t>
            </a:r>
            <a:endParaRPr lang="en-US" sz="1300" dirty="0"/>
          </a:p>
        </p:txBody>
      </p:sp>
      <p:sp>
        <p:nvSpPr>
          <p:cNvPr id="35" name="Shape 33"/>
          <p:cNvSpPr/>
          <p:nvPr/>
        </p:nvSpPr>
        <p:spPr>
          <a:xfrm>
            <a:off x="7132320" y="3931920"/>
            <a:ext cx="466344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5D9CE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7269480" y="3931920"/>
            <a:ext cx="4389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13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Richer visuals via LLM prompt</a:t>
            </a:r>
            <a:endParaRPr lang="en-US" sz="1300" dirty="0"/>
          </a:p>
        </p:txBody>
      </p:sp>
      <p:sp>
        <p:nvSpPr>
          <p:cNvPr id="37" name="Text 35"/>
          <p:cNvSpPr/>
          <p:nvPr/>
        </p:nvSpPr>
        <p:spPr>
          <a:xfrm>
            <a:off x="548640" y="475488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B1E1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Training Loss — Epoch 1 → 3</a:t>
            </a:r>
            <a:endParaRPr lang="en-US" sz="1300" dirty="0"/>
          </a:p>
        </p:txBody>
      </p:sp>
      <p:sp>
        <p:nvSpPr>
          <p:cNvPr id="38" name="Shape 36"/>
          <p:cNvSpPr/>
          <p:nvPr/>
        </p:nvSpPr>
        <p:spPr>
          <a:xfrm>
            <a:off x="548640" y="5166360"/>
            <a:ext cx="356616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2700">
            <a:solidFill>
              <a:srgbClr val="E5D9CE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731520" y="5212080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Epoch 1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731520" y="5532120"/>
            <a:ext cx="1828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2B1E1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0.1678</a:t>
            </a:r>
            <a:endParaRPr lang="en-US" sz="2200" dirty="0"/>
          </a:p>
        </p:txBody>
      </p:sp>
      <p:sp>
        <p:nvSpPr>
          <p:cNvPr id="41" name="Text 39"/>
          <p:cNvSpPr/>
          <p:nvPr/>
        </p:nvSpPr>
        <p:spPr>
          <a:xfrm>
            <a:off x="2468880" y="5532120"/>
            <a:ext cx="1554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E5B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67.1 min</a:t>
            </a:r>
            <a:endParaRPr lang="en-US" sz="1100" dirty="0"/>
          </a:p>
        </p:txBody>
      </p:sp>
      <p:sp>
        <p:nvSpPr>
          <p:cNvPr id="42" name="Shape 40"/>
          <p:cNvSpPr/>
          <p:nvPr/>
        </p:nvSpPr>
        <p:spPr>
          <a:xfrm>
            <a:off x="4343400" y="5166360"/>
            <a:ext cx="356616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2700">
            <a:solidFill>
              <a:srgbClr val="E5D9CE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526280" y="5212080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Epoch 2</a:t>
            </a:r>
            <a:endParaRPr lang="en-US" sz="1100" dirty="0"/>
          </a:p>
        </p:txBody>
      </p:sp>
      <p:sp>
        <p:nvSpPr>
          <p:cNvPr id="44" name="Text 42"/>
          <p:cNvSpPr/>
          <p:nvPr/>
        </p:nvSpPr>
        <p:spPr>
          <a:xfrm>
            <a:off x="4526280" y="5532120"/>
            <a:ext cx="1828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2B1E1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0.1666</a:t>
            </a:r>
            <a:endParaRPr lang="en-US" sz="2200" dirty="0"/>
          </a:p>
        </p:txBody>
      </p:sp>
      <p:sp>
        <p:nvSpPr>
          <p:cNvPr id="45" name="Text 43"/>
          <p:cNvSpPr/>
          <p:nvPr/>
        </p:nvSpPr>
        <p:spPr>
          <a:xfrm>
            <a:off x="6263640" y="5532120"/>
            <a:ext cx="1554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E5B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67.4 min</a:t>
            </a:r>
            <a:endParaRPr lang="en-US" sz="1100" dirty="0"/>
          </a:p>
        </p:txBody>
      </p:sp>
      <p:sp>
        <p:nvSpPr>
          <p:cNvPr id="46" name="Shape 44"/>
          <p:cNvSpPr/>
          <p:nvPr/>
        </p:nvSpPr>
        <p:spPr>
          <a:xfrm>
            <a:off x="8138160" y="5166360"/>
            <a:ext cx="356616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2700">
            <a:solidFill>
              <a:srgbClr val="E5D9CE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8321040" y="5212080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Epoch 3</a:t>
            </a:r>
            <a:endParaRPr lang="en-US" sz="1100" dirty="0"/>
          </a:p>
        </p:txBody>
      </p:sp>
      <p:sp>
        <p:nvSpPr>
          <p:cNvPr id="48" name="Text 46"/>
          <p:cNvSpPr/>
          <p:nvPr/>
        </p:nvSpPr>
        <p:spPr>
          <a:xfrm>
            <a:off x="8321040" y="5532120"/>
            <a:ext cx="1828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2B1E1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0.1660</a:t>
            </a:r>
            <a:endParaRPr lang="en-US" sz="2200" dirty="0"/>
          </a:p>
        </p:txBody>
      </p:sp>
      <p:sp>
        <p:nvSpPr>
          <p:cNvPr id="49" name="Text 47"/>
          <p:cNvSpPr/>
          <p:nvPr/>
        </p:nvSpPr>
        <p:spPr>
          <a:xfrm>
            <a:off x="10058400" y="5532120"/>
            <a:ext cx="1554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E5B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67.6 min  ← Best</a:t>
            </a:r>
            <a:endParaRPr lang="en-US" sz="1100" dirty="0"/>
          </a:p>
        </p:txBody>
      </p:sp>
      <p:sp>
        <p:nvSpPr>
          <p:cNvPr id="50" name="Shape 48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365760" y="658368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FoodAds AI</a:t>
            </a:r>
            <a:endParaRPr lang="en-US" sz="1100" dirty="0"/>
          </a:p>
        </p:txBody>
      </p:sp>
      <p:sp>
        <p:nvSpPr>
          <p:cNvPr id="52" name="Text 50"/>
          <p:cNvSpPr/>
          <p:nvPr/>
        </p:nvSpPr>
        <p:spPr>
          <a:xfrm>
            <a:off x="11338560" y="658368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 / 22</a:t>
            </a:r>
            <a:endParaRPr lang="en-US" sz="11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5EFE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400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  ·  DATABASE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2B1E1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PostgreSQL + EF Core (code-first).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1097280" cy="73152"/>
          </a:xfrm>
          <a:prstGeom prst="rect">
            <a:avLst/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2103120"/>
            <a:ext cx="2697480" cy="5486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B8504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2103120"/>
            <a:ext cx="2697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B1E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users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410712" y="2103120"/>
            <a:ext cx="2697480" cy="5486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B8504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10712" y="2103120"/>
            <a:ext cx="2697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B1E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roles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272784" y="2103120"/>
            <a:ext cx="2697480" cy="5486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B8504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272784" y="2103120"/>
            <a:ext cx="2697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B1E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user_roles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9134856" y="2103120"/>
            <a:ext cx="2697480" cy="5486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B8504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134856" y="2103120"/>
            <a:ext cx="2697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B1E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restaurants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548640" y="2788920"/>
            <a:ext cx="2697480" cy="5486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B8504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48640" y="2788920"/>
            <a:ext cx="2697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B1E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campaigns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3410712" y="2788920"/>
            <a:ext cx="2697480" cy="5486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B85042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410712" y="2788920"/>
            <a:ext cx="2697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B1E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generated_images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6272784" y="2788920"/>
            <a:ext cx="2697480" cy="5486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B85042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272784" y="2788920"/>
            <a:ext cx="2697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B1E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prompt_history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9134856" y="2788920"/>
            <a:ext cx="2697480" cy="5486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B85042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134856" y="2788920"/>
            <a:ext cx="2697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B1E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favorites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548640" y="3474720"/>
            <a:ext cx="2697480" cy="5486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B85042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48640" y="3474720"/>
            <a:ext cx="2697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B1E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subscriptions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3410712" y="3474720"/>
            <a:ext cx="2697480" cy="5486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B85042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410712" y="3474720"/>
            <a:ext cx="2697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B1E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api_usage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6272784" y="3474720"/>
            <a:ext cx="2697480" cy="5486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B85042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272784" y="3474720"/>
            <a:ext cx="2697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B1E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notifications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548640" y="4663440"/>
            <a:ext cx="54864" cy="548640"/>
          </a:xfrm>
          <a:prstGeom prst="rect">
            <a:avLst/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731520" y="4572000"/>
            <a:ext cx="21945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B1E1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Soft delete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2926080" y="4572000"/>
            <a:ext cx="3017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E5B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IsDeleted flag on all user-facing entities.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6217920" y="4663440"/>
            <a:ext cx="54864" cy="548640"/>
          </a:xfrm>
          <a:prstGeom prst="rect">
            <a:avLst/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400800" y="4572000"/>
            <a:ext cx="21945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B1E1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Audit timestamps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8595360" y="4572000"/>
            <a:ext cx="3017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E5B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CreatedAt / UpdatedAt on every save.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548640" y="5440680"/>
            <a:ext cx="54864" cy="548640"/>
          </a:xfrm>
          <a:prstGeom prst="rect">
            <a:avLst/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731520" y="5349240"/>
            <a:ext cx="21945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B1E1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Global query filters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2926080" y="5349240"/>
            <a:ext cx="3017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E5B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Deleted rows excluded automatically.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6217920" y="5440680"/>
            <a:ext cx="54864" cy="548640"/>
          </a:xfrm>
          <a:prstGeom prst="rect">
            <a:avLst/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400800" y="5349240"/>
            <a:ext cx="21945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B1E1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Auto-migrate</a:t>
            </a:r>
            <a:endParaRPr lang="en-US" sz="1300" dirty="0"/>
          </a:p>
        </p:txBody>
      </p:sp>
      <p:sp>
        <p:nvSpPr>
          <p:cNvPr id="38" name="Text 36"/>
          <p:cNvSpPr/>
          <p:nvPr/>
        </p:nvSpPr>
        <p:spPr>
          <a:xfrm>
            <a:off x="8595360" y="5349240"/>
            <a:ext cx="3017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E5B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backend startup — MigrateAsync.</a:t>
            </a:r>
            <a:endParaRPr lang="en-US" sz="1200" dirty="0"/>
          </a:p>
        </p:txBody>
      </p:sp>
      <p:sp>
        <p:nvSpPr>
          <p:cNvPr id="39" name="Shape 37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365760" y="658368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FoodAds AI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11338560" y="658368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 / 22</a:t>
            </a:r>
            <a:endParaRPr lang="en-US" sz="11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5EFE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400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 ·  DEPLOYMENT · DOCKER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2B1E1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One command. Full stack up.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1097280" cy="73152"/>
          </a:xfrm>
          <a:prstGeom prst="rect">
            <a:avLst/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965960"/>
            <a:ext cx="11064240" cy="1005840"/>
          </a:xfrm>
          <a:prstGeom prst="roundRect">
            <a:avLst>
              <a:gd name="adj" fmla="val 7273"/>
            </a:avLst>
          </a:prstGeom>
          <a:solidFill>
            <a:srgbClr val="2B1E1B"/>
          </a:solidFill>
          <a:ln w="12700">
            <a:solidFill>
              <a:srgbClr val="2B1E1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1965960"/>
            <a:ext cx="110642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E9A9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 docker compose up --build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548640" y="3291840"/>
            <a:ext cx="2651760" cy="1828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5D9CE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48640" y="3291840"/>
            <a:ext cx="2651760" cy="91440"/>
          </a:xfrm>
          <a:prstGeom prst="rect">
            <a:avLst/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85800" y="347472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B1E1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foodads-postgres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85800" y="393192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E5B5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postgres:latest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685800" y="4389120"/>
            <a:ext cx="23774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B8504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:5432</a:t>
            </a:r>
            <a:endParaRPr lang="en-US" sz="2200" dirty="0"/>
          </a:p>
        </p:txBody>
      </p:sp>
      <p:sp>
        <p:nvSpPr>
          <p:cNvPr id="12" name="Shape 10"/>
          <p:cNvSpPr/>
          <p:nvPr/>
        </p:nvSpPr>
        <p:spPr>
          <a:xfrm>
            <a:off x="3410712" y="3291840"/>
            <a:ext cx="2651760" cy="1828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5D9CE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410712" y="3291840"/>
            <a:ext cx="2651760" cy="91440"/>
          </a:xfrm>
          <a:prstGeom prst="rect">
            <a:avLst/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547872" y="347472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B1E1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foodads-ai-service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3547872" y="393192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E5B5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./python-ai-service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547872" y="4389120"/>
            <a:ext cx="23774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B8504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:8000</a:t>
            </a:r>
            <a:endParaRPr lang="en-US" sz="2200" dirty="0"/>
          </a:p>
        </p:txBody>
      </p:sp>
      <p:sp>
        <p:nvSpPr>
          <p:cNvPr id="17" name="Shape 15"/>
          <p:cNvSpPr/>
          <p:nvPr/>
        </p:nvSpPr>
        <p:spPr>
          <a:xfrm>
            <a:off x="6272784" y="3291840"/>
            <a:ext cx="2651760" cy="1828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5D9CE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272784" y="3291840"/>
            <a:ext cx="2651760" cy="91440"/>
          </a:xfrm>
          <a:prstGeom prst="rect">
            <a:avLst/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409944" y="347472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B1E1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foodads-backend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6409944" y="393192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E5B5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./backend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6409944" y="4389120"/>
            <a:ext cx="23774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B8504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:8080</a:t>
            </a:r>
            <a:endParaRPr lang="en-US" sz="2200" dirty="0"/>
          </a:p>
        </p:txBody>
      </p:sp>
      <p:sp>
        <p:nvSpPr>
          <p:cNvPr id="22" name="Shape 20"/>
          <p:cNvSpPr/>
          <p:nvPr/>
        </p:nvSpPr>
        <p:spPr>
          <a:xfrm>
            <a:off x="9134856" y="3291840"/>
            <a:ext cx="2651760" cy="1828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5D9CE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9134856" y="3291840"/>
            <a:ext cx="2651760" cy="91440"/>
          </a:xfrm>
          <a:prstGeom prst="rect">
            <a:avLst/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9272016" y="347472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B1E1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foodads-frontend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9272016" y="393192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E5B5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./frontend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9272016" y="4389120"/>
            <a:ext cx="23774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B8504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:5173</a:t>
            </a:r>
            <a:endParaRPr lang="en-US" sz="2200" dirty="0"/>
          </a:p>
        </p:txBody>
      </p:sp>
      <p:sp>
        <p:nvSpPr>
          <p:cNvPr id="27" name="Shape 25"/>
          <p:cNvSpPr/>
          <p:nvPr/>
        </p:nvSpPr>
        <p:spPr>
          <a:xfrm>
            <a:off x="548640" y="5349240"/>
            <a:ext cx="2651760" cy="640080"/>
          </a:xfrm>
          <a:prstGeom prst="roundRect">
            <a:avLst>
              <a:gd name="adj" fmla="val 11429"/>
            </a:avLst>
          </a:prstGeom>
          <a:solidFill>
            <a:srgbClr val="A7BEAE"/>
          </a:solidFill>
          <a:ln w="12700">
            <a:solidFill>
              <a:srgbClr val="A7BEAE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48640" y="5349240"/>
            <a:ext cx="26517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B1E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GPU Passthrough (NVIDIA)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3410712" y="5349240"/>
            <a:ext cx="2651760" cy="640080"/>
          </a:xfrm>
          <a:prstGeom prst="roundRect">
            <a:avLst>
              <a:gd name="adj" fmla="val 11429"/>
            </a:avLst>
          </a:prstGeom>
          <a:solidFill>
            <a:srgbClr val="A7BEAE"/>
          </a:solidFill>
          <a:ln w="12700">
            <a:solidFill>
              <a:srgbClr val="A7BEAE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410712" y="5349240"/>
            <a:ext cx="26517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B1E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Persistent Postgres Volume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6272784" y="5349240"/>
            <a:ext cx="2651760" cy="640080"/>
          </a:xfrm>
          <a:prstGeom prst="roundRect">
            <a:avLst>
              <a:gd name="adj" fmla="val 11429"/>
            </a:avLst>
          </a:prstGeom>
          <a:solidFill>
            <a:srgbClr val="A7BEAE"/>
          </a:solidFill>
          <a:ln w="12700">
            <a:solidFill>
              <a:srgbClr val="A7BEAE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272784" y="5349240"/>
            <a:ext cx="26517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B1E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HuggingFace Model Cache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9134856" y="5349240"/>
            <a:ext cx="2651760" cy="640080"/>
          </a:xfrm>
          <a:prstGeom prst="roundRect">
            <a:avLst>
              <a:gd name="adj" fmla="val 11429"/>
            </a:avLst>
          </a:prstGeom>
          <a:solidFill>
            <a:srgbClr val="A7BEAE"/>
          </a:solidFill>
          <a:ln w="12700">
            <a:solidFill>
              <a:srgbClr val="A7BEAE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9134856" y="5349240"/>
            <a:ext cx="26517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B1E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Ordered Startup Chain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365760" y="658368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FoodAds AI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11338560" y="658368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/ 22</a:t>
            </a:r>
            <a:endParaRPr lang="en-US" sz="11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2B1E1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743200" y="-2743200"/>
            <a:ext cx="7315200" cy="7315200"/>
          </a:xfrm>
          <a:prstGeom prst="ellipse">
            <a:avLst/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1371600" y="3657600"/>
            <a:ext cx="3657600" cy="3657600"/>
          </a:xfrm>
          <a:prstGeom prst="ellipse">
            <a:avLst/>
          </a:prstGeom>
          <a:solidFill>
            <a:srgbClr val="E9A94A"/>
          </a:solidFill>
          <a:ln w="12700">
            <a:solidFill>
              <a:srgbClr val="E9A94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0" y="2377440"/>
            <a:ext cx="77724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Thank you.</a:t>
            </a:r>
            <a:endParaRPr lang="en-US" sz="7200" dirty="0"/>
          </a:p>
        </p:txBody>
      </p:sp>
      <p:sp>
        <p:nvSpPr>
          <p:cNvPr id="5" name="Shape 3"/>
          <p:cNvSpPr/>
          <p:nvPr/>
        </p:nvSpPr>
        <p:spPr>
          <a:xfrm>
            <a:off x="4206240" y="3703320"/>
            <a:ext cx="1371600" cy="73152"/>
          </a:xfrm>
          <a:prstGeom prst="rect">
            <a:avLst/>
          </a:prstGeom>
          <a:solidFill>
            <a:srgbClr val="E9A94A"/>
          </a:solidFill>
          <a:ln w="12700">
            <a:solidFill>
              <a:srgbClr val="E9A94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114800" y="384048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i="1" dirty="0">
                <a:solidFill>
                  <a:srgbClr val="F5EF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FoodAds AI  —  Questions?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4114800" y="457200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C9BF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prompt. One image. One full campaign.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Widescreen</PresentationFormat>
  <Paragraphs>0</Paragraphs>
  <Slides>22</Slides>
  <Notes>22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3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FoodAds AI — Project Presentation</dc:title>
  <dc:subject>PptxGenJS Presentation</dc:subject>
  <dc:creator>PptxGenJS</dc:creator>
  <cp:lastModifiedBy>PptxGenJS</cp:lastModifiedBy>
  <cp:revision>10</cp:revision>
  <dcterms:created xsi:type="dcterms:W3CDTF">2026-07-10T14:02:19Z</dcterms:created>
  <dcterms:modified xsi:type="dcterms:W3CDTF">2026-07-10T15:03:52Z</dcterms:modified>
</cp:coreProperties>
</file>